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bc90b489aa4d67" /><Relationship Type="http://schemas.openxmlformats.org/officeDocument/2006/relationships/extended-properties" Target="/docProps/app.xml" Id="R260628482c544b50" /><Relationship Type="http://schemas.openxmlformats.org/officeDocument/2006/relationships/officeDocument" Target="/ppt/presentation.xml" Id="R1df94b7aeb514ba4" /></Relationships>
</file>

<file path=ppt/presentation.xml><?xml version="1.0" encoding="utf-8"?>
<p:presentation xmlns:p="http://schemas.openxmlformats.org/presentationml/2006/main">
  <p:sldMasterIdLst>
    <p:sldMasterId xmlns:r="http://schemas.openxmlformats.org/officeDocument/2006/relationships" id="2147483648" r:id="R3d8c438abd5b4ef9"/>
  </p:sldMasterIdLst>
  <p:notesMasterIdLst>
    <p:notesMasterId xmlns:r="http://schemas.openxmlformats.org/officeDocument/2006/relationships" r:id="Rcf10049385cf4714"/>
  </p:notesMasterIdLst>
  <p:sldIdLst>
    <p:sldId xmlns:r="http://schemas.openxmlformats.org/officeDocument/2006/relationships" id="256" r:id="R9d3c1b5907374c55"/>
    <p:sldId xmlns:r="http://schemas.openxmlformats.org/officeDocument/2006/relationships" id="257" r:id="Rb4774d4b6b464b57"/>
    <p:sldId xmlns:r="http://schemas.openxmlformats.org/officeDocument/2006/relationships" id="258" r:id="R0ee65152c517439c"/>
    <p:sldId xmlns:r="http://schemas.openxmlformats.org/officeDocument/2006/relationships" id="259" r:id="Rb8e3246626bd4833"/>
    <p:sldId xmlns:r="http://schemas.openxmlformats.org/officeDocument/2006/relationships" id="260" r:id="R39d3e02af0bb47f7"/>
    <p:sldId xmlns:r="http://schemas.openxmlformats.org/officeDocument/2006/relationships" id="261" r:id="R2efe0e5b98264d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41927c68fd4de9" /><Relationship Type="http://schemas.openxmlformats.org/officeDocument/2006/relationships/slideMaster" Target="/ppt/slideMasters/slideMaster1.xml" Id="R3d8c438abd5b4ef9" /><Relationship Type="http://schemas.openxmlformats.org/officeDocument/2006/relationships/notesMaster" Target="/ppt/notesMasters/notesMaster1.xml" Id="Rcf10049385cf4714" /><Relationship Type="http://schemas.openxmlformats.org/officeDocument/2006/relationships/presProps" Target="/ppt/presProps.xml" Id="R56d8d22ad59a4874" /><Relationship Type="http://schemas.openxmlformats.org/officeDocument/2006/relationships/tableStyles" Target="/ppt/tableStyles.xml" Id="R321e608f67f24af3" /><Relationship Type="http://schemas.openxmlformats.org/officeDocument/2006/relationships/slide" Target="/ppt/slides/slide1.xml" Id="R9d3c1b5907374c55" /><Relationship Type="http://schemas.openxmlformats.org/officeDocument/2006/relationships/slide" Target="/ppt/slides/slide2.xml" Id="Rb4774d4b6b464b57" /><Relationship Type="http://schemas.openxmlformats.org/officeDocument/2006/relationships/slide" Target="/ppt/slides/slide3.xml" Id="R0ee65152c517439c" /><Relationship Type="http://schemas.openxmlformats.org/officeDocument/2006/relationships/slide" Target="/ppt/slides/slide4.xml" Id="Rb8e3246626bd4833" /><Relationship Type="http://schemas.openxmlformats.org/officeDocument/2006/relationships/slide" Target="/ppt/slides/slide5.xml" Id="R39d3e02af0bb47f7" /><Relationship Type="http://schemas.openxmlformats.org/officeDocument/2006/relationships/slide" Target="/ppt/slides/slide6.xml" Id="R2efe0e5b98264d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885df6f799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e43711fefa45b8" /><Relationship Type="http://schemas.openxmlformats.org/officeDocument/2006/relationships/notesMaster" Target="/ppt/notesMasters/notesMaster1.xml" Id="Ra0949b3e276d42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0bc0648f014bc4" /><Relationship Type="http://schemas.openxmlformats.org/officeDocument/2006/relationships/notesMaster" Target="/ppt/notesMasters/notesMaster1.xml" Id="R9c1ebc19021e4b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cfce98b1824432" /><Relationship Type="http://schemas.openxmlformats.org/officeDocument/2006/relationships/notesMaster" Target="/ppt/notesMasters/notesMaster1.xml" Id="Rc36b06240ef346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d198f8f9c546b3" /><Relationship Type="http://schemas.openxmlformats.org/officeDocument/2006/relationships/notesMaster" Target="/ppt/notesMasters/notesMaster1.xml" Id="R5c9c44d9509a47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9d5bbd18234390" /><Relationship Type="http://schemas.openxmlformats.org/officeDocument/2006/relationships/notesMaster" Target="/ppt/notesMasters/notesMaster1.xml" Id="Rcdd67bb81c4041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37471ebc7c4ff7" /><Relationship Type="http://schemas.openxmlformats.org/officeDocument/2006/relationships/notesMaster" Target="/ppt/notesMasters/notesMaster1.xml" Id="Rd6be7f4b0b7644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20 seconds</a:t>
            </a:r>
          </a:p>
          <a:p xmlns:a="http://schemas.openxmlformats.org/drawingml/2006/main">
            <a:r>
              <a:t/>
            </a:r>
          </a:p>
          <a:p xmlns:a="http://schemas.openxmlformats.org/drawingml/2006/main">
            <a:r>
              <a:t>Imagine a winter storm is approaching Roanoke. You need to decide whether to charge backup equipment, protect food, or find somewhere warm. Our AI Outage Concierge turns the data behind your electricity supply into answers for your home, before an outage and throughout a simulated restoration journey.</a:t>
            </a:r>
          </a:p>
          <a:p xmlns:a="http://schemas.openxmlformats.org/drawingml/2006/main">
            <a:r>
              <a:t/>
            </a:r>
          </a:p>
          <a:p xmlns:a="http://schemas.openxmlformats.org/drawingml/2006/main">
            <a:r>
              <a:t>Sources: aep_challenge.pdf, pp. 2–5; OHIO Judging Rubric.xlsx, Judging Rubric sheet; project documentation and current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  30 seconds</a:t>
            </a:r>
          </a:p>
          <a:p xmlns:a="http://schemas.openxmlformats.org/drawingml/2006/main">
            <a:r>
              <a:t/>
            </a:r>
          </a:p>
          <a:p xmlns:a="http://schemas.openxmlformats.org/drawingml/2006/main">
            <a:r>
              <a:t>We connected fifteen cleaned tables covering 117,642 premises across 110 circuits. The important question was whether risk lives at the house or upstream on the line that supplies it. We used the equipment chain to connect each home to shared failure points. Trained risk models use historical damage and network features. A separate simulator combines expected damage, repair labor, crew assumptions and repair order to estimate duration. The language model explains these computed results.</a:t>
            </a:r>
          </a:p>
          <a:p xmlns:a="http://schemas.openxmlformats.org/drawingml/2006/main">
            <a:r>
              <a:t/>
            </a:r>
          </a:p>
          <a:p xmlns:a="http://schemas.openxmlformats.org/drawingml/2006/main">
            <a:r>
              <a:t>Sources: aep_challenge.pdf, pp. 2–5; OHIO Judging Rubric.xlsx, Judging Rubric sheet; project documentation and current source code.</a:t>
            </a:r>
          </a:p>
          <a:p xmlns:a="http://schemas.openxmlformats.org/drawingml/2006/main">
            <a:r>
              <a:t>Specific evidence: docs/04-data-and-aws/cleaned-data-notes.md; docs/01-overview/scope-and-data-usage.md; backend/app/predict.py; backend/app/chat.py.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0:50–1:25  |  35 seconds</a:t>
            </a:r>
          </a:p>
          <a:p xmlns:a="http://schemas.openxmlformats.org/drawingml/2006/main">
            <a:r>
              <a:t/>
            </a:r>
          </a:p>
          <a:p xmlns:a="http://schemas.openxmlformats.org/drawingml/2006/main">
            <a:r>
              <a:t>Here is the working prototype, with our new TomTom map. We select an anonymized premise and show only that home. The colored areas summarize predicted risk, while the connected points show the equipment feeding it. This makes a shared upstream failure understandable. The customer can ask why their home has this risk, and the concierge uses their profile and read-only calculation tools. Our research into outage maps and alert tools motivated this focus on personal preparation and explanation.</a:t>
            </a:r>
          </a:p>
          <a:p xmlns:a="http://schemas.openxmlformats.org/drawingml/2006/main">
            <a:r>
              <a:t/>
            </a:r>
          </a:p>
          <a:p xmlns:a="http://schemas.openxmlformats.org/drawingml/2006/main">
            <a:r>
              <a:t>Sources: aep_challenge.pdf, pp. 2–5; OHIO Judging Rubric.xlsx, Judging Rubric sheet; project documentation and current source code.</a:t>
            </a:r>
          </a:p>
          <a:p xmlns:a="http://schemas.openxmlformats.org/drawingml/2006/main">
            <a:r>
              <a:t>Specific evidence: .pitch-build/product.png, captured from the local dashboard; web/src/tomtomMap.ts; backend/app/profile.py; docs/03-research/existing-solutions.md. Screenshot contains model estimates, not confirmed outage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1:25–2:00  |  35 seconds</a:t>
            </a:r>
          </a:p>
          <a:p xmlns:a="http://schemas.openxmlformats.org/drawingml/2006/main">
            <a:r>
              <a:t/>
            </a:r>
          </a:p>
          <a:p xmlns:a="http://schemas.openxmlformats.org/drawingml/2006/main">
            <a:r>
              <a:t>For this demo home, the February-like storm setting gives about eighty percent outage risk and a likely restoration range of ten to forty-four hours if power fails. These are model estimates, not confirmed utility information. Changing crews or access conditions recalculates the range. We then connect that duration to practical household needs through Time That Matters and preparation guidance. The replay demonstrates four messages: before the storm, outage confirmed, estimate updated, and restored. Medical needs come only from the customer declaring them.</a:t>
            </a:r>
          </a:p>
          <a:p xmlns:a="http://schemas.openxmlformats.org/drawingml/2006/main">
            <a:r>
              <a:t/>
            </a:r>
          </a:p>
          <a:p xmlns:a="http://schemas.openxmlformats.org/drawingml/2006/main">
            <a:r>
              <a:t>Sources: aep_challenge.pdf, pp. 2–5; OHIO Judging Rubric.xlsx, Judging Rubric sheet; project documentation and current source code.</a:t>
            </a:r>
          </a:p>
          <a:p xmlns:a="http://schemas.openxmlformats.org/drawingml/2006/main">
            <a:r>
              <a:t>Specific evidence: local dashboard, default Salem premise 400797248 at severity 1.0 and two crews; backend/app/concierge.py; web/src/prepare.ts. Alerts are prototype messages, not real SMS delivery. Guidance and alert rules use the baseline outlook; do not claim all guidance changes with every restoration slider.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2:00–2:35  |  35 seconds</a:t>
            </a:r>
          </a:p>
          <a:p xmlns:a="http://schemas.openxmlformats.org/drawingml/2006/main">
            <a:r>
              <a:t/>
            </a:r>
          </a:p>
          <a:p xmlns:a="http://schemas.openxmlformats.org/drawingml/2006/main">
            <a:r>
              <a:t>One important pivot came from testing the data. Repair dates were too coarse, and some reflected administrative closeouts. We replaced a learned restoration-time forecast with an explainable simulator that responds to operational assumptions. We also tested risk on a different storm and found that storm strength and location affect transfer. We therefore disclose uncertainty and keep severity explicit. The assistant is instructed to use tool facts, acknowledge missing information and escalate emergencies. Sessions expire and can be cleared.</a:t>
            </a:r>
          </a:p>
          <a:p xmlns:a="http://schemas.openxmlformats.org/drawingml/2006/main">
            <a:r>
              <a:t/>
            </a:r>
          </a:p>
          <a:p xmlns:a="http://schemas.openxmlformats.org/drawingml/2006/main">
            <a:r>
              <a:t>Sources: aep_challenge.pdf, pp. 2–5; OHIO Judging Rubric.xlsx, Judging Rubric sheet; project documentation and current source code.</a:t>
            </a:r>
          </a:p>
          <a:p xmlns:a="http://schemas.openxmlformats.org/drawingml/2006/main">
            <a:r>
              <a:t>Specific evidence: docs/05-judging/navigating-challenges.md, entries 4, 12, 15 and 16; backend/app/chat.py. Model scoring artifacts differ by revision, so this deck makes no quantitative model-performance claim. No live weather or outage-management feed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2:35–3:00  |  25 seconds</a:t>
            </a:r>
          </a:p>
          <a:p xmlns:a="http://schemas.openxmlformats.org/drawingml/2006/main">
            <a:r>
              <a:t/>
            </a:r>
          </a:p>
          <a:p xmlns:a="http://schemas.openxmlformats.org/drawingml/2006/main">
            <a:r>
              <a:t>The value is a clearer household decision before the lights go out: what might happen, what could change the estimate, and how to prepare. We have a working prototype that combines grid engineering, geospatial analysis and customer communication. Our next steps are live utility integration, customer testing and validation across more storms. Today, this is a transparent scenario assistant with a complete demonstrated customer journey.</a:t>
            </a:r>
          </a:p>
          <a:p xmlns:a="http://schemas.openxmlformats.org/drawingml/2006/main">
            <a:r>
              <a:t/>
            </a:r>
          </a:p>
          <a:p xmlns:a="http://schemas.openxmlformats.org/drawingml/2006/main">
            <a:r>
              <a:t>Sources: aep_challenge.pdf, pp. 2–5; OHIO Judging Rubric.xlsx, Judging Rubric sheet; project documentation and current source code.</a:t>
            </a:r>
          </a:p>
          <a:p xmlns:a="http://schemas.openxmlformats.org/drawingml/2006/main">
            <a:r>
              <a:t>Scope: proposed benefits are not measured deployment outcomes. Live telemetry, delivery of real alerts, automatic data refresh and broader validation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1ae800d0834b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79785b38894b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a18674a77e40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0f31f602e641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ed23cae78b4e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51dd52bfb44f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501DD7-85D4-4DB0-A0A0-9DDD16F59E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E58191-C58A-45D5-B0AC-CEC5E6F1FE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DE0FA5-1971-461F-992D-5089B4608E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B5CE7D-37DF-44BB-8D72-3045FD80D8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872F52-DE13-4DBC-A117-C24B7F0934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F415ABB-64B4-40A3-AA80-DAAA3DFBA9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D043C5-3EC5-47B1-B5CE-41E8EBEC53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2F1984C-A8CA-45C5-88D1-F985748050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2831AD-6C81-4BB7-A4DF-B2E7D4C656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620E1E-F820-4BC3-B090-9AACA64DAB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4a37da9a19459a" /><Relationship Type="http://schemas.openxmlformats.org/officeDocument/2006/relationships/slideLayout" Target="/ppt/slideLayouts/slideLayout1.xml" Id="R80df355176a74b55" /><Relationship Type="http://schemas.openxmlformats.org/officeDocument/2006/relationships/slideLayout" Target="/ppt/slideLayouts/slideLayout2.xml" Id="R7f17513f093c45e1" /><Relationship Type="http://schemas.openxmlformats.org/officeDocument/2006/relationships/slideLayout" Target="/ppt/slideLayouts/slideLayout3.xml" Id="R9d639dc336564b46" /><Relationship Type="http://schemas.openxmlformats.org/officeDocument/2006/relationships/slideLayout" Target="/ppt/slideLayouts/slideLayout4.xml" Id="Re3f74b7ea8b547e0" /><Relationship Type="http://schemas.openxmlformats.org/officeDocument/2006/relationships/slideLayout" Target="/ppt/slideLayouts/slideLayout5.xml" Id="R56c7d56571f446ba" /><Relationship Type="http://schemas.openxmlformats.org/officeDocument/2006/relationships/slideLayout" Target="/ppt/slideLayouts/slideLayout6.xml" Id="R3eed6fc6a7764b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f355176a74b55"/>
    <p:sldLayoutId xmlns:r="http://schemas.openxmlformats.org/officeDocument/2006/relationships" id="2147483650" r:id="R7f17513f093c45e1"/>
    <p:sldLayoutId xmlns:r="http://schemas.openxmlformats.org/officeDocument/2006/relationships" id="2147483651" r:id="R9d639dc336564b46"/>
    <p:sldLayoutId xmlns:r="http://schemas.openxmlformats.org/officeDocument/2006/relationships" id="2147483652" r:id="Re3f74b7ea8b547e0"/>
    <p:sldLayoutId xmlns:r="http://schemas.openxmlformats.org/officeDocument/2006/relationships" id="2147483653" r:id="R56c7d56571f446ba"/>
    <p:sldLayoutId xmlns:r="http://schemas.openxmlformats.org/officeDocument/2006/relationships" id="2147483654" r:id="R3eed6fc6a7764b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6866c2fa544367" /><Relationship Type="http://schemas.openxmlformats.org/officeDocument/2006/relationships/notesSlide" Target="/ppt/notesSlides/notesSlide1.xml" Id="Re0a4ef4249d64b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543b329fc948ac" /><Relationship Type="http://schemas.openxmlformats.org/officeDocument/2006/relationships/notesSlide" Target="/ppt/notesSlides/notesSlide2.xml" Id="Rb1434127e2ca4b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b293bd9de34bff" /><Relationship Type="http://schemas.openxmlformats.org/officeDocument/2006/relationships/image" Target="/ppt/media/image.jpeg" Id="R829653e475344feb" /><Relationship Type="http://schemas.openxmlformats.org/officeDocument/2006/relationships/notesSlide" Target="/ppt/notesSlides/notesSlide3.xml" Id="R91b6ac5c23b14a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855af20ac245a4" /><Relationship Type="http://schemas.openxmlformats.org/officeDocument/2006/relationships/notesSlide" Target="/ppt/notesSlides/notesSlide4.xml" Id="R58b43657f51445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4db76c484442ff" /><Relationship Type="http://schemas.openxmlformats.org/officeDocument/2006/relationships/notesSlide" Target="/ppt/notesSlides/notesSlide5.xml" Id="R4afdfd4101c14f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8472afaae345ae" /><Relationship Type="http://schemas.openxmlformats.org/officeDocument/2006/relationships/notesSlide" Target="/ppt/notesSlides/notesSlide6.xml" Id="R0163296ee3034cc8" /></Relationships>
</file>

<file path=ppt/slides/slide1.xml><?xml version="1.0" encoding="utf-8"?>
<p:sld xmlns:p="http://schemas.openxmlformats.org/presentationml/2006/main">
  <p:cSld>
    <p:bg>
      <p:bgPr>
        <a:solidFill xmlns:a="http://schemas.openxmlformats.org/drawingml/2006/main">
          <a:srgbClr val="173D39"/>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8F57F-2870-4B46-9BC7-286B79DD7705}"/>
              </a:ext>
            </a:extLst>
          </p:cNvPr>
          <p:cNvSpPr>
            <a:spLocks xmlns:a="http://schemas.openxmlformats.org/drawingml/2006/main" noGrp="1"/>
          </p:cNvSpPr>
          <p:nvPr/>
        </p:nvSpPr>
        <p:spPr>
          <a:xfrm xmlns:a="http://schemas.openxmlformats.org/drawingml/2006/main">
            <a:off x="11087100" y="62484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7C5B9"/>
                </a:solidFill>
              </a:defRPr>
            </a:defPPr>
            <a:lvl1pPr>
              <a:defRPr sz="1350" b="0">
                <a:solidFill>
                  <a:srgbClr val="A7C5B9"/>
                </a:solidFill>
              </a:defRPr>
            </a:lvl1pPr>
            <a:lvl2pPr>
              <a:defRPr sz="1350" b="0">
                <a:solidFill>
                  <a:srgbClr val="A7C5B9"/>
                </a:solidFill>
              </a:defRPr>
            </a:lvl2pPr>
            <a:lvl3pPr>
              <a:defRPr sz="1350" b="0">
                <a:solidFill>
                  <a:srgbClr val="A7C5B9"/>
                </a:solidFill>
              </a:defRPr>
            </a:lvl3pPr>
            <a:lvl4pPr>
              <a:defRPr sz="1350" b="0">
                <a:solidFill>
                  <a:srgbClr val="A7C5B9"/>
                </a:solidFill>
              </a:defRPr>
            </a:lvl4pPr>
            <a:lvl5pPr>
              <a:defRPr sz="1350" b="0">
                <a:solidFill>
                  <a:srgbClr val="A7C5B9"/>
                </a:solidFill>
              </a:defRPr>
            </a:lvl5pPr>
            <a:lvl6pPr>
              <a:defRPr sz="1350" b="0">
                <a:solidFill>
                  <a:srgbClr val="A7C5B9"/>
                </a:solidFill>
              </a:defRPr>
            </a:lvl6pPr>
            <a:lvl7pPr>
              <a:defRPr sz="1350" b="0">
                <a:solidFill>
                  <a:srgbClr val="A7C5B9"/>
                </a:solidFill>
              </a:defRPr>
            </a:lvl7pPr>
            <a:lvl8pPr>
              <a:defRPr sz="1350" b="0">
                <a:solidFill>
                  <a:srgbClr val="A7C5B9"/>
                </a:solidFill>
              </a:defRPr>
            </a:lvl8pPr>
            <a:lvl9pPr>
              <a:defRPr sz="1350" b="0">
                <a:solidFill>
                  <a:srgbClr val="A7C5B9"/>
                </a:solidFill>
              </a:defRPr>
            </a:lvl9pPr>
          </a:lstStyle>
          <a:p xmlns:a="http://schemas.openxmlformats.org/drawingml/2006/main">
            <a:pPr>
              <a:defRPr sz="1350" b="0">
                <a:solidFill>
                  <a:srgbClr val="A7C5B9"/>
                </a:solidFill>
              </a:defRPr>
            </a:pPr>
            <a:r>
              <a:rPr sz="1350" b="0">
                <a:solidFill>
                  <a:srgbClr val="A7C5B9"/>
                </a:solidFill>
              </a:rPr>
              <a:t>01</a:t>
            </a:r>
          </a:p>
        </p:txBody>
      </p:sp>
      <p:sp>
        <p:nvSpPr>
          <p:cNvPr id="3" name="">
            <a:extLst xmlns:a="http://schemas.openxmlformats.org/drawingml/2006/main">
              <a:ext uri="{FF2B5EF4-FFF2-40B4-BE49-F238E27FC236}">
                <a16:creationId xmlns:a16="http://schemas.microsoft.com/office/drawing/2014/main" id="{891A0BDE-E983-4DA4-8D9E-EA1A5561D73D}"/>
              </a:ext>
            </a:extLst>
          </p:cNvPr>
          <p:cNvSpPr>
            <a:spLocks xmlns:a="http://schemas.openxmlformats.org/drawingml/2006/main" noGrp="1"/>
          </p:cNvSpPr>
          <p:nvPr/>
        </p:nvSpPr>
        <p:spPr>
          <a:xfrm xmlns:a="http://schemas.openxmlformats.org/drawingml/2006/main">
            <a:off x="609600" y="5334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AFCCC0"/>
                </a:solidFill>
              </a:defRPr>
            </a:defPPr>
            <a:lvl1pPr>
              <a:defRPr sz="1575" b="0">
                <a:solidFill>
                  <a:srgbClr val="AFCCC0"/>
                </a:solidFill>
              </a:defRPr>
            </a:lvl1pPr>
            <a:lvl2pPr>
              <a:defRPr sz="1575" b="0">
                <a:solidFill>
                  <a:srgbClr val="AFCCC0"/>
                </a:solidFill>
              </a:defRPr>
            </a:lvl2pPr>
            <a:lvl3pPr>
              <a:defRPr sz="1575" b="0">
                <a:solidFill>
                  <a:srgbClr val="AFCCC0"/>
                </a:solidFill>
              </a:defRPr>
            </a:lvl3pPr>
            <a:lvl4pPr>
              <a:defRPr sz="1575" b="0">
                <a:solidFill>
                  <a:srgbClr val="AFCCC0"/>
                </a:solidFill>
              </a:defRPr>
            </a:lvl4pPr>
            <a:lvl5pPr>
              <a:defRPr sz="1575" b="0">
                <a:solidFill>
                  <a:srgbClr val="AFCCC0"/>
                </a:solidFill>
              </a:defRPr>
            </a:lvl5pPr>
            <a:lvl6pPr>
              <a:defRPr sz="1575" b="0">
                <a:solidFill>
                  <a:srgbClr val="AFCCC0"/>
                </a:solidFill>
              </a:defRPr>
            </a:lvl6pPr>
            <a:lvl7pPr>
              <a:defRPr sz="1575" b="0">
                <a:solidFill>
                  <a:srgbClr val="AFCCC0"/>
                </a:solidFill>
              </a:defRPr>
            </a:lvl7pPr>
            <a:lvl8pPr>
              <a:defRPr sz="1575" b="0">
                <a:solidFill>
                  <a:srgbClr val="AFCCC0"/>
                </a:solidFill>
              </a:defRPr>
            </a:lvl8pPr>
            <a:lvl9pPr>
              <a:defRPr sz="1575" b="0">
                <a:solidFill>
                  <a:srgbClr val="AFCCC0"/>
                </a:solidFill>
              </a:defRPr>
            </a:lvl9pPr>
          </a:lstStyle>
          <a:p xmlns:a="http://schemas.openxmlformats.org/drawingml/2006/main">
            <a:pPr>
              <a:defRPr sz="1575" b="0">
                <a:solidFill>
                  <a:srgbClr val="AFCCC0"/>
                </a:solidFill>
              </a:defRPr>
            </a:pPr>
            <a:r>
              <a:rPr sz="1575" b="0">
                <a:solidFill>
                  <a:srgbClr val="AFCCC0"/>
                </a:solidFill>
              </a:rPr>
              <a:t>AEP CHALLENGE  /  HACKOHI/O 2026</a:t>
            </a:r>
          </a:p>
        </p:txBody>
      </p:sp>
      <p:sp>
        <p:nvSpPr>
          <p:cNvPr id="4" name="">
            <a:extLst xmlns:a="http://schemas.openxmlformats.org/drawingml/2006/main">
              <a:ext uri="{FF2B5EF4-FFF2-40B4-BE49-F238E27FC236}">
                <a16:creationId xmlns:a16="http://schemas.microsoft.com/office/drawing/2014/main" id="{D8D37640-E013-4CA9-8F17-0D8E18C779B4}"/>
              </a:ext>
            </a:extLst>
          </p:cNvPr>
          <p:cNvSpPr>
            <a:spLocks xmlns:a="http://schemas.openxmlformats.org/drawingml/2006/main" noGrp="1"/>
          </p:cNvSpPr>
          <p:nvPr/>
        </p:nvSpPr>
        <p:spPr>
          <a:xfrm xmlns:a="http://schemas.openxmlformats.org/drawingml/2006/main">
            <a:off x="609600" y="1762125"/>
            <a:ext cx="7810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5F6EF"/>
                </a:solidFill>
              </a:defRPr>
            </a:defPPr>
            <a:lvl1pPr>
              <a:defRPr sz="6600" b="1">
                <a:solidFill>
                  <a:srgbClr val="F5F6EF"/>
                </a:solidFill>
              </a:defRPr>
            </a:lvl1pPr>
            <a:lvl2pPr>
              <a:defRPr sz="6600" b="1">
                <a:solidFill>
                  <a:srgbClr val="F5F6EF"/>
                </a:solidFill>
              </a:defRPr>
            </a:lvl2pPr>
            <a:lvl3pPr>
              <a:defRPr sz="6600" b="1">
                <a:solidFill>
                  <a:srgbClr val="F5F6EF"/>
                </a:solidFill>
              </a:defRPr>
            </a:lvl3pPr>
            <a:lvl4pPr>
              <a:defRPr sz="6600" b="1">
                <a:solidFill>
                  <a:srgbClr val="F5F6EF"/>
                </a:solidFill>
              </a:defRPr>
            </a:lvl4pPr>
            <a:lvl5pPr>
              <a:defRPr sz="6600" b="1">
                <a:solidFill>
                  <a:srgbClr val="F5F6EF"/>
                </a:solidFill>
              </a:defRPr>
            </a:lvl5pPr>
            <a:lvl6pPr>
              <a:defRPr sz="6600" b="1">
                <a:solidFill>
                  <a:srgbClr val="F5F6EF"/>
                </a:solidFill>
              </a:defRPr>
            </a:lvl6pPr>
            <a:lvl7pPr>
              <a:defRPr sz="6600" b="1">
                <a:solidFill>
                  <a:srgbClr val="F5F6EF"/>
                </a:solidFill>
              </a:defRPr>
            </a:lvl7pPr>
            <a:lvl8pPr>
              <a:defRPr sz="6600" b="1">
                <a:solidFill>
                  <a:srgbClr val="F5F6EF"/>
                </a:solidFill>
              </a:defRPr>
            </a:lvl8pPr>
            <a:lvl9pPr>
              <a:defRPr sz="6600" b="1">
                <a:solidFill>
                  <a:srgbClr val="F5F6EF"/>
                </a:solidFill>
              </a:defRPr>
            </a:lvl9pPr>
          </a:lstStyle>
          <a:p xmlns:a="http://schemas.openxmlformats.org/drawingml/2006/main">
            <a:pPr>
              <a:defRPr sz="6600" b="1">
                <a:solidFill>
                  <a:srgbClr val="F5F6EF"/>
                </a:solidFill>
              </a:defRPr>
            </a:pPr>
            <a:r>
              <a:rPr sz="6600" b="1">
                <a:solidFill>
                  <a:srgbClr val="F5F6EF"/>
                </a:solidFill>
              </a:rPr>
              <a:t>AI Outage</a:t>
            </a:r>
          </a:p>
          <a:p xmlns:a="http://schemas.openxmlformats.org/drawingml/2006/main">
            <a:pPr>
              <a:defRPr sz="6600" b="1">
                <a:solidFill>
                  <a:srgbClr val="F5F6EF"/>
                </a:solidFill>
              </a:defRPr>
            </a:pPr>
            <a:r>
              <a:rPr sz="6600" b="1">
                <a:solidFill>
                  <a:srgbClr val="F5F6EF"/>
                </a:solidFill>
              </a:rPr>
              <a:t>Concierge</a:t>
            </a:r>
          </a:p>
        </p:txBody>
      </p:sp>
      <p:sp>
        <p:nvSpPr>
          <p:cNvPr id="5" name="">
            <a:extLst xmlns:a="http://schemas.openxmlformats.org/drawingml/2006/main">
              <a:ext uri="{FF2B5EF4-FFF2-40B4-BE49-F238E27FC236}">
                <a16:creationId xmlns:a16="http://schemas.microsoft.com/office/drawing/2014/main" id="{99536B98-B647-43E7-8C0D-2F769419131C}"/>
              </a:ext>
            </a:extLst>
          </p:cNvPr>
          <p:cNvSpPr>
            <a:spLocks xmlns:a="http://schemas.openxmlformats.org/drawingml/2006/main" noGrp="1"/>
          </p:cNvSpPr>
          <p:nvPr/>
        </p:nvSpPr>
        <p:spPr>
          <a:xfrm xmlns:a="http://schemas.openxmlformats.org/drawingml/2006/main">
            <a:off x="647700" y="44386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0E2D5"/>
                </a:solidFill>
              </a:defRPr>
            </a:defPPr>
            <a:lvl1pPr>
              <a:defRPr sz="2400" b="0">
                <a:solidFill>
                  <a:srgbClr val="D0E2D5"/>
                </a:solidFill>
              </a:defRPr>
            </a:lvl1pPr>
            <a:lvl2pPr>
              <a:defRPr sz="2400" b="0">
                <a:solidFill>
                  <a:srgbClr val="D0E2D5"/>
                </a:solidFill>
              </a:defRPr>
            </a:lvl2pPr>
            <a:lvl3pPr>
              <a:defRPr sz="2400" b="0">
                <a:solidFill>
                  <a:srgbClr val="D0E2D5"/>
                </a:solidFill>
              </a:defRPr>
            </a:lvl3pPr>
            <a:lvl4pPr>
              <a:defRPr sz="2400" b="0">
                <a:solidFill>
                  <a:srgbClr val="D0E2D5"/>
                </a:solidFill>
              </a:defRPr>
            </a:lvl4pPr>
            <a:lvl5pPr>
              <a:defRPr sz="2400" b="0">
                <a:solidFill>
                  <a:srgbClr val="D0E2D5"/>
                </a:solidFill>
              </a:defRPr>
            </a:lvl5pPr>
            <a:lvl6pPr>
              <a:defRPr sz="2400" b="0">
                <a:solidFill>
                  <a:srgbClr val="D0E2D5"/>
                </a:solidFill>
              </a:defRPr>
            </a:lvl6pPr>
            <a:lvl7pPr>
              <a:defRPr sz="2400" b="0">
                <a:solidFill>
                  <a:srgbClr val="D0E2D5"/>
                </a:solidFill>
              </a:defRPr>
            </a:lvl7pPr>
            <a:lvl8pPr>
              <a:defRPr sz="2400" b="0">
                <a:solidFill>
                  <a:srgbClr val="D0E2D5"/>
                </a:solidFill>
              </a:defRPr>
            </a:lvl8pPr>
            <a:lvl9pPr>
              <a:defRPr sz="2400" b="0">
                <a:solidFill>
                  <a:srgbClr val="D0E2D5"/>
                </a:solidFill>
              </a:defRPr>
            </a:lvl9pPr>
          </a:lstStyle>
          <a:p xmlns:a="http://schemas.openxmlformats.org/drawingml/2006/main">
            <a:pPr>
              <a:defRPr sz="2400" b="0">
                <a:solidFill>
                  <a:srgbClr val="D0E2D5"/>
                </a:solidFill>
              </a:defRPr>
            </a:pPr>
            <a:r>
              <a:rPr sz="2400" b="0">
                <a:solidFill>
                  <a:srgbClr val="D0E2D5"/>
                </a:solidFill>
              </a:rPr>
              <a:t>Storm preparation for the Roanoke Valley</a:t>
            </a:r>
          </a:p>
        </p:txBody>
      </p:sp>
      <p:sp>
        <p:nvSpPr>
          <p:cNvPr id="6" name="">
            <a:extLst xmlns:a="http://schemas.openxmlformats.org/drawingml/2006/main">
              <a:ext uri="{FF2B5EF4-FFF2-40B4-BE49-F238E27FC236}">
                <a16:creationId xmlns:a16="http://schemas.microsoft.com/office/drawing/2014/main" id="{54F7D63E-AEFC-4FCF-8262-DFD2E935B7F6}"/>
              </a:ext>
            </a:extLst>
          </p:cNvPr>
          <p:cNvSpPr>
            <a:spLocks xmlns:a="http://schemas.openxmlformats.org/drawingml/2006/main" noGrp="1"/>
          </p:cNvSpPr>
          <p:nvPr/>
        </p:nvSpPr>
        <p:spPr>
          <a:xfrm xmlns:a="http://schemas.openxmlformats.org/drawingml/2006/main">
            <a:off x="647700" y="5257800"/>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5F6EF"/>
                </a:solidFill>
              </a:defRPr>
            </a:defPPr>
            <a:lvl1pPr>
              <a:defRPr sz="2175" b="0">
                <a:solidFill>
                  <a:srgbClr val="F5F6EF"/>
                </a:solidFill>
              </a:defRPr>
            </a:lvl1pPr>
            <a:lvl2pPr>
              <a:defRPr sz="2175" b="0">
                <a:solidFill>
                  <a:srgbClr val="F5F6EF"/>
                </a:solidFill>
              </a:defRPr>
            </a:lvl2pPr>
            <a:lvl3pPr>
              <a:defRPr sz="2175" b="0">
                <a:solidFill>
                  <a:srgbClr val="F5F6EF"/>
                </a:solidFill>
              </a:defRPr>
            </a:lvl3pPr>
            <a:lvl4pPr>
              <a:defRPr sz="2175" b="0">
                <a:solidFill>
                  <a:srgbClr val="F5F6EF"/>
                </a:solidFill>
              </a:defRPr>
            </a:lvl4pPr>
            <a:lvl5pPr>
              <a:defRPr sz="2175" b="0">
                <a:solidFill>
                  <a:srgbClr val="F5F6EF"/>
                </a:solidFill>
              </a:defRPr>
            </a:lvl5pPr>
            <a:lvl6pPr>
              <a:defRPr sz="2175" b="0">
                <a:solidFill>
                  <a:srgbClr val="F5F6EF"/>
                </a:solidFill>
              </a:defRPr>
            </a:lvl6pPr>
            <a:lvl7pPr>
              <a:defRPr sz="2175" b="0">
                <a:solidFill>
                  <a:srgbClr val="F5F6EF"/>
                </a:solidFill>
              </a:defRPr>
            </a:lvl7pPr>
            <a:lvl8pPr>
              <a:defRPr sz="2175" b="0">
                <a:solidFill>
                  <a:srgbClr val="F5F6EF"/>
                </a:solidFill>
              </a:defRPr>
            </a:lvl8pPr>
            <a:lvl9pPr>
              <a:defRPr sz="2175" b="0">
                <a:solidFill>
                  <a:srgbClr val="F5F6EF"/>
                </a:solidFill>
              </a:defRPr>
            </a:lvl9pPr>
          </a:lstStyle>
          <a:p xmlns:a="http://schemas.openxmlformats.org/drawingml/2006/main">
            <a:pPr>
              <a:defRPr sz="2175" b="0">
                <a:solidFill>
                  <a:srgbClr val="F5F6EF"/>
                </a:solidFill>
              </a:defRPr>
            </a:pPr>
            <a:r>
              <a:rPr sz="2175" b="0">
                <a:solidFill>
                  <a:srgbClr val="F5F6EF"/>
                </a:solidFill>
              </a:rPr>
              <a:t>What could happen to my home, and what should I do?</a:t>
            </a:r>
          </a:p>
        </p:txBody>
      </p:sp>
    </p:spTree>
    <p:extLst>
      <p:ext uri="{BB962C8B-B14F-4D97-AF65-F5344CB8AC3E}">
        <p14:creationId xmlns:p14="http://schemas.microsoft.com/office/powerpoint/2010/main" val="786280167"/>
      </p:ext>
    </p:extLst>
  </p:cSld>
</p:sld>
</file>

<file path=ppt/slides/slide2.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8C6AA8C-7854-4A25-997E-05235B2C7D95}"/>
              </a:ext>
            </a:extLst>
          </p:cNvPr>
          <p:cNvSpPr>
            <a:spLocks xmlns:a="http://schemas.openxmlformats.org/drawingml/2006/main" noGrp="1"/>
          </p:cNvSpPr>
          <p:nvPr/>
        </p:nvSpPr>
        <p:spPr>
          <a:xfrm xmlns:a="http://schemas.openxmlformats.org/drawingml/2006/main">
            <a:off x="609600" y="457200"/>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D39"/>
                </a:solidFill>
              </a:defRPr>
            </a:defPPr>
            <a:lvl1pPr>
              <a:defRPr sz="3600" b="1">
                <a:solidFill>
                  <a:srgbClr val="173D39"/>
                </a:solidFill>
              </a:defRPr>
            </a:lvl1pPr>
            <a:lvl2pPr>
              <a:defRPr sz="3600" b="1">
                <a:solidFill>
                  <a:srgbClr val="173D39"/>
                </a:solidFill>
              </a:defRPr>
            </a:lvl2pPr>
            <a:lvl3pPr>
              <a:defRPr sz="3600" b="1">
                <a:solidFill>
                  <a:srgbClr val="173D39"/>
                </a:solidFill>
              </a:defRPr>
            </a:lvl3pPr>
            <a:lvl4pPr>
              <a:defRPr sz="3600" b="1">
                <a:solidFill>
                  <a:srgbClr val="173D39"/>
                </a:solidFill>
              </a:defRPr>
            </a:lvl4pPr>
            <a:lvl5pPr>
              <a:defRPr sz="3600" b="1">
                <a:solidFill>
                  <a:srgbClr val="173D39"/>
                </a:solidFill>
              </a:defRPr>
            </a:lvl5pPr>
            <a:lvl6pPr>
              <a:defRPr sz="3600" b="1">
                <a:solidFill>
                  <a:srgbClr val="173D39"/>
                </a:solidFill>
              </a:defRPr>
            </a:lvl6pPr>
            <a:lvl7pPr>
              <a:defRPr sz="3600" b="1">
                <a:solidFill>
                  <a:srgbClr val="173D39"/>
                </a:solidFill>
              </a:defRPr>
            </a:lvl7pPr>
            <a:lvl8pPr>
              <a:defRPr sz="3600" b="1">
                <a:solidFill>
                  <a:srgbClr val="173D39"/>
                </a:solidFill>
              </a:defRPr>
            </a:lvl8pPr>
            <a:lvl9pPr>
              <a:defRPr sz="3600" b="1">
                <a:solidFill>
                  <a:srgbClr val="173D39"/>
                </a:solidFill>
              </a:defRPr>
            </a:lvl9pPr>
          </a:lstStyle>
          <a:p xmlns:a="http://schemas.openxmlformats.org/drawingml/2006/main">
            <a:pPr>
              <a:defRPr sz="3600" b="1">
                <a:solidFill>
                  <a:srgbClr val="173D39"/>
                </a:solidFill>
              </a:defRPr>
            </a:pPr>
            <a:r>
              <a:rPr sz="3600" b="1">
                <a:solidFill>
                  <a:srgbClr val="173D39"/>
                </a:solidFill>
              </a:rPr>
              <a:t>The data behind one home</a:t>
            </a:r>
          </a:p>
        </p:txBody>
      </p:sp>
      <p:sp>
        <p:nvSpPr>
          <p:cNvPr id="3" name="">
            <a:extLst xmlns:a="http://schemas.openxmlformats.org/drawingml/2006/main">
              <a:ext uri="{FF2B5EF4-FFF2-40B4-BE49-F238E27FC236}">
                <a16:creationId xmlns:a16="http://schemas.microsoft.com/office/drawing/2014/main" id="{257DE975-0F9C-4DBB-8228-48D8066430A3}"/>
              </a:ext>
            </a:extLst>
          </p:cNvPr>
          <p:cNvSpPr>
            <a:spLocks xmlns:a="http://schemas.openxmlformats.org/drawingml/2006/main" noGrp="1"/>
          </p:cNvSpPr>
          <p:nvPr/>
        </p:nvSpPr>
        <p:spPr>
          <a:xfrm xmlns:a="http://schemas.openxmlformats.org/drawingml/2006/main">
            <a:off x="11087100" y="62484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A"/>
                </a:solidFill>
              </a:defRPr>
            </a:defPPr>
            <a:lvl1pPr>
              <a:defRPr sz="1350" b="0">
                <a:solidFill>
                  <a:srgbClr val="58706A"/>
                </a:solidFill>
              </a:defRPr>
            </a:lvl1pPr>
            <a:lvl2pPr>
              <a:defRPr sz="1350" b="0">
                <a:solidFill>
                  <a:srgbClr val="58706A"/>
                </a:solidFill>
              </a:defRPr>
            </a:lvl2pPr>
            <a:lvl3pPr>
              <a:defRPr sz="1350" b="0">
                <a:solidFill>
                  <a:srgbClr val="58706A"/>
                </a:solidFill>
              </a:defRPr>
            </a:lvl3pPr>
            <a:lvl4pPr>
              <a:defRPr sz="1350" b="0">
                <a:solidFill>
                  <a:srgbClr val="58706A"/>
                </a:solidFill>
              </a:defRPr>
            </a:lvl4pPr>
            <a:lvl5pPr>
              <a:defRPr sz="1350" b="0">
                <a:solidFill>
                  <a:srgbClr val="58706A"/>
                </a:solidFill>
              </a:defRPr>
            </a:lvl5pPr>
            <a:lvl6pPr>
              <a:defRPr sz="1350" b="0">
                <a:solidFill>
                  <a:srgbClr val="58706A"/>
                </a:solidFill>
              </a:defRPr>
            </a:lvl6pPr>
            <a:lvl7pPr>
              <a:defRPr sz="1350" b="0">
                <a:solidFill>
                  <a:srgbClr val="58706A"/>
                </a:solidFill>
              </a:defRPr>
            </a:lvl7pPr>
            <a:lvl8pPr>
              <a:defRPr sz="1350" b="0">
                <a:solidFill>
                  <a:srgbClr val="58706A"/>
                </a:solidFill>
              </a:defRPr>
            </a:lvl8pPr>
            <a:lvl9pPr>
              <a:defRPr sz="1350" b="0">
                <a:solidFill>
                  <a:srgbClr val="58706A"/>
                </a:solidFill>
              </a:defRPr>
            </a:lvl9pPr>
          </a:lstStyle>
          <a:p xmlns:a="http://schemas.openxmlformats.org/drawingml/2006/main">
            <a:pPr>
              <a:defRPr sz="1350" b="0">
                <a:solidFill>
                  <a:srgbClr val="58706A"/>
                </a:solidFill>
              </a:defRPr>
            </a:pPr>
            <a:r>
              <a:rPr sz="1350" b="0">
                <a:solidFill>
                  <a:srgbClr val="58706A"/>
                </a:solidFill>
              </a:rPr>
              <a:t>02</a:t>
            </a:r>
          </a:p>
        </p:txBody>
      </p:sp>
      <p:sp>
        <p:nvSpPr>
          <p:cNvPr id="4" name="">
            <a:extLst xmlns:a="http://schemas.openxmlformats.org/drawingml/2006/main">
              <a:ext uri="{FF2B5EF4-FFF2-40B4-BE49-F238E27FC236}">
                <a16:creationId xmlns:a16="http://schemas.microsoft.com/office/drawing/2014/main" id="{2F651D91-5D3D-4500-8B74-3707952F93F1}"/>
              </a:ext>
            </a:extLst>
          </p:cNvPr>
          <p:cNvSpPr>
            <a:spLocks xmlns:a="http://schemas.openxmlformats.org/drawingml/2006/main" noGrp="1"/>
          </p:cNvSpPr>
          <p:nvPr/>
        </p:nvSpPr>
        <p:spPr>
          <a:xfrm xmlns:a="http://schemas.openxmlformats.org/drawingml/2006/main">
            <a:off x="609600" y="1885950"/>
            <a:ext cx="5238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00" b="1">
                <a:solidFill>
                  <a:srgbClr val="146E61"/>
                </a:solidFill>
              </a:defRPr>
            </a:defPPr>
            <a:lvl1pPr>
              <a:defRPr sz="7200" b="1">
                <a:solidFill>
                  <a:srgbClr val="146E61"/>
                </a:solidFill>
              </a:defRPr>
            </a:lvl1pPr>
            <a:lvl2pPr>
              <a:defRPr sz="7200" b="1">
                <a:solidFill>
                  <a:srgbClr val="146E61"/>
                </a:solidFill>
              </a:defRPr>
            </a:lvl2pPr>
            <a:lvl3pPr>
              <a:defRPr sz="7200" b="1">
                <a:solidFill>
                  <a:srgbClr val="146E61"/>
                </a:solidFill>
              </a:defRPr>
            </a:lvl3pPr>
            <a:lvl4pPr>
              <a:defRPr sz="7200" b="1">
                <a:solidFill>
                  <a:srgbClr val="146E61"/>
                </a:solidFill>
              </a:defRPr>
            </a:lvl4pPr>
            <a:lvl5pPr>
              <a:defRPr sz="7200" b="1">
                <a:solidFill>
                  <a:srgbClr val="146E61"/>
                </a:solidFill>
              </a:defRPr>
            </a:lvl5pPr>
            <a:lvl6pPr>
              <a:defRPr sz="7200" b="1">
                <a:solidFill>
                  <a:srgbClr val="146E61"/>
                </a:solidFill>
              </a:defRPr>
            </a:lvl6pPr>
            <a:lvl7pPr>
              <a:defRPr sz="7200" b="1">
                <a:solidFill>
                  <a:srgbClr val="146E61"/>
                </a:solidFill>
              </a:defRPr>
            </a:lvl7pPr>
            <a:lvl8pPr>
              <a:defRPr sz="7200" b="1">
                <a:solidFill>
                  <a:srgbClr val="146E61"/>
                </a:solidFill>
              </a:defRPr>
            </a:lvl8pPr>
            <a:lvl9pPr>
              <a:defRPr sz="7200" b="1">
                <a:solidFill>
                  <a:srgbClr val="146E61"/>
                </a:solidFill>
              </a:defRPr>
            </a:lvl9pPr>
          </a:lstStyle>
          <a:p xmlns:a="http://schemas.openxmlformats.org/drawingml/2006/main">
            <a:pPr>
              <a:defRPr sz="7200" b="1">
                <a:solidFill>
                  <a:srgbClr val="146E61"/>
                </a:solidFill>
              </a:defRPr>
            </a:pPr>
            <a:r>
              <a:rPr sz="7200" b="1">
                <a:solidFill>
                  <a:srgbClr val="146E61"/>
                </a:solidFill>
              </a:rPr>
              <a:t>117,642</a:t>
            </a:r>
          </a:p>
        </p:txBody>
      </p:sp>
      <p:sp>
        <p:nvSpPr>
          <p:cNvPr id="5" name="">
            <a:extLst xmlns:a="http://schemas.openxmlformats.org/drawingml/2006/main">
              <a:ext uri="{FF2B5EF4-FFF2-40B4-BE49-F238E27FC236}">
                <a16:creationId xmlns:a16="http://schemas.microsoft.com/office/drawing/2014/main" id="{35D2372A-637F-4468-99AA-A9A7FC3038CD}"/>
              </a:ext>
            </a:extLst>
          </p:cNvPr>
          <p:cNvSpPr>
            <a:spLocks xmlns:a="http://schemas.openxmlformats.org/drawingml/2006/main" noGrp="1"/>
          </p:cNvSpPr>
          <p:nvPr/>
        </p:nvSpPr>
        <p:spPr>
          <a:xfrm xmlns:a="http://schemas.openxmlformats.org/drawingml/2006/main">
            <a:off x="666750" y="29718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D39"/>
                </a:solidFill>
              </a:defRPr>
            </a:defPPr>
            <a:lvl1pPr>
              <a:defRPr sz="2100" b="0">
                <a:solidFill>
                  <a:srgbClr val="173D39"/>
                </a:solidFill>
              </a:defRPr>
            </a:lvl1pPr>
            <a:lvl2pPr>
              <a:defRPr sz="2100" b="0">
                <a:solidFill>
                  <a:srgbClr val="173D39"/>
                </a:solidFill>
              </a:defRPr>
            </a:lvl2pPr>
            <a:lvl3pPr>
              <a:defRPr sz="2100" b="0">
                <a:solidFill>
                  <a:srgbClr val="173D39"/>
                </a:solidFill>
              </a:defRPr>
            </a:lvl3pPr>
            <a:lvl4pPr>
              <a:defRPr sz="2100" b="0">
                <a:solidFill>
                  <a:srgbClr val="173D39"/>
                </a:solidFill>
              </a:defRPr>
            </a:lvl4pPr>
            <a:lvl5pPr>
              <a:defRPr sz="2100" b="0">
                <a:solidFill>
                  <a:srgbClr val="173D39"/>
                </a:solidFill>
              </a:defRPr>
            </a:lvl5pPr>
            <a:lvl6pPr>
              <a:defRPr sz="2100" b="0">
                <a:solidFill>
                  <a:srgbClr val="173D39"/>
                </a:solidFill>
              </a:defRPr>
            </a:lvl6pPr>
            <a:lvl7pPr>
              <a:defRPr sz="2100" b="0">
                <a:solidFill>
                  <a:srgbClr val="173D39"/>
                </a:solidFill>
              </a:defRPr>
            </a:lvl7pPr>
            <a:lvl8pPr>
              <a:defRPr sz="2100" b="0">
                <a:solidFill>
                  <a:srgbClr val="173D39"/>
                </a:solidFill>
              </a:defRPr>
            </a:lvl8pPr>
            <a:lvl9pPr>
              <a:defRPr sz="2100" b="0">
                <a:solidFill>
                  <a:srgbClr val="173D39"/>
                </a:solidFill>
              </a:defRPr>
            </a:lvl9pPr>
          </a:lstStyle>
          <a:p xmlns:a="http://schemas.openxmlformats.org/drawingml/2006/main">
            <a:pPr>
              <a:defRPr sz="2100" b="0">
                <a:solidFill>
                  <a:srgbClr val="173D39"/>
                </a:solidFill>
              </a:defRPr>
            </a:pPr>
            <a:r>
              <a:rPr sz="2100" b="0">
                <a:solidFill>
                  <a:srgbClr val="173D39"/>
                </a:solidFill>
              </a:rPr>
              <a:t>customer premises</a:t>
            </a:r>
          </a:p>
        </p:txBody>
      </p:sp>
      <p:sp>
        <p:nvSpPr>
          <p:cNvPr id="6" name="">
            <a:extLst xmlns:a="http://schemas.openxmlformats.org/drawingml/2006/main">
              <a:ext uri="{FF2B5EF4-FFF2-40B4-BE49-F238E27FC236}">
                <a16:creationId xmlns:a16="http://schemas.microsoft.com/office/drawing/2014/main" id="{C4358ADA-A8BF-431C-8C85-7DB9199781DA}"/>
              </a:ext>
            </a:extLst>
          </p:cNvPr>
          <p:cNvSpPr>
            <a:spLocks xmlns:a="http://schemas.openxmlformats.org/drawingml/2006/main" noGrp="1"/>
          </p:cNvSpPr>
          <p:nvPr/>
        </p:nvSpPr>
        <p:spPr>
          <a:xfrm xmlns:a="http://schemas.openxmlformats.org/drawingml/2006/main">
            <a:off x="6591300" y="1924050"/>
            <a:ext cx="223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46E61"/>
                </a:solidFill>
              </a:defRPr>
            </a:defPPr>
            <a:lvl1pPr>
              <a:defRPr sz="5850" b="1">
                <a:solidFill>
                  <a:srgbClr val="146E61"/>
                </a:solidFill>
              </a:defRPr>
            </a:lvl1pPr>
            <a:lvl2pPr>
              <a:defRPr sz="5850" b="1">
                <a:solidFill>
                  <a:srgbClr val="146E61"/>
                </a:solidFill>
              </a:defRPr>
            </a:lvl2pPr>
            <a:lvl3pPr>
              <a:defRPr sz="5850" b="1">
                <a:solidFill>
                  <a:srgbClr val="146E61"/>
                </a:solidFill>
              </a:defRPr>
            </a:lvl3pPr>
            <a:lvl4pPr>
              <a:defRPr sz="5850" b="1">
                <a:solidFill>
                  <a:srgbClr val="146E61"/>
                </a:solidFill>
              </a:defRPr>
            </a:lvl4pPr>
            <a:lvl5pPr>
              <a:defRPr sz="5850" b="1">
                <a:solidFill>
                  <a:srgbClr val="146E61"/>
                </a:solidFill>
              </a:defRPr>
            </a:lvl5pPr>
            <a:lvl6pPr>
              <a:defRPr sz="5850" b="1">
                <a:solidFill>
                  <a:srgbClr val="146E61"/>
                </a:solidFill>
              </a:defRPr>
            </a:lvl6pPr>
            <a:lvl7pPr>
              <a:defRPr sz="5850" b="1">
                <a:solidFill>
                  <a:srgbClr val="146E61"/>
                </a:solidFill>
              </a:defRPr>
            </a:lvl7pPr>
            <a:lvl8pPr>
              <a:defRPr sz="5850" b="1">
                <a:solidFill>
                  <a:srgbClr val="146E61"/>
                </a:solidFill>
              </a:defRPr>
            </a:lvl8pPr>
            <a:lvl9pPr>
              <a:defRPr sz="5850" b="1">
                <a:solidFill>
                  <a:srgbClr val="146E61"/>
                </a:solidFill>
              </a:defRPr>
            </a:lvl9pPr>
          </a:lstStyle>
          <a:p xmlns:a="http://schemas.openxmlformats.org/drawingml/2006/main">
            <a:pPr>
              <a:defRPr sz="5850" b="1">
                <a:solidFill>
                  <a:srgbClr val="146E61"/>
                </a:solidFill>
              </a:defRPr>
            </a:pPr>
            <a:r>
              <a:rPr sz="5850" b="1">
                <a:solidFill>
                  <a:srgbClr val="146E61"/>
                </a:solidFill>
              </a:rPr>
              <a:t>110</a:t>
            </a:r>
          </a:p>
        </p:txBody>
      </p:sp>
      <p:sp>
        <p:nvSpPr>
          <p:cNvPr id="7" name="">
            <a:extLst xmlns:a="http://schemas.openxmlformats.org/drawingml/2006/main">
              <a:ext uri="{FF2B5EF4-FFF2-40B4-BE49-F238E27FC236}">
                <a16:creationId xmlns:a16="http://schemas.microsoft.com/office/drawing/2014/main" id="{428DE563-2F98-40AA-AA30-D32E36AD5204}"/>
              </a:ext>
            </a:extLst>
          </p:cNvPr>
          <p:cNvSpPr>
            <a:spLocks xmlns:a="http://schemas.openxmlformats.org/drawingml/2006/main" noGrp="1"/>
          </p:cNvSpPr>
          <p:nvPr/>
        </p:nvSpPr>
        <p:spPr>
          <a:xfrm xmlns:a="http://schemas.openxmlformats.org/drawingml/2006/main">
            <a:off x="6629400" y="29718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D39"/>
                </a:solidFill>
              </a:defRPr>
            </a:defPPr>
            <a:lvl1pPr>
              <a:defRPr sz="2100" b="0">
                <a:solidFill>
                  <a:srgbClr val="173D39"/>
                </a:solidFill>
              </a:defRPr>
            </a:lvl1pPr>
            <a:lvl2pPr>
              <a:defRPr sz="2100" b="0">
                <a:solidFill>
                  <a:srgbClr val="173D39"/>
                </a:solidFill>
              </a:defRPr>
            </a:lvl2pPr>
            <a:lvl3pPr>
              <a:defRPr sz="2100" b="0">
                <a:solidFill>
                  <a:srgbClr val="173D39"/>
                </a:solidFill>
              </a:defRPr>
            </a:lvl3pPr>
            <a:lvl4pPr>
              <a:defRPr sz="2100" b="0">
                <a:solidFill>
                  <a:srgbClr val="173D39"/>
                </a:solidFill>
              </a:defRPr>
            </a:lvl4pPr>
            <a:lvl5pPr>
              <a:defRPr sz="2100" b="0">
                <a:solidFill>
                  <a:srgbClr val="173D39"/>
                </a:solidFill>
              </a:defRPr>
            </a:lvl5pPr>
            <a:lvl6pPr>
              <a:defRPr sz="2100" b="0">
                <a:solidFill>
                  <a:srgbClr val="173D39"/>
                </a:solidFill>
              </a:defRPr>
            </a:lvl6pPr>
            <a:lvl7pPr>
              <a:defRPr sz="2100" b="0">
                <a:solidFill>
                  <a:srgbClr val="173D39"/>
                </a:solidFill>
              </a:defRPr>
            </a:lvl7pPr>
            <a:lvl8pPr>
              <a:defRPr sz="2100" b="0">
                <a:solidFill>
                  <a:srgbClr val="173D39"/>
                </a:solidFill>
              </a:defRPr>
            </a:lvl8pPr>
            <a:lvl9pPr>
              <a:defRPr sz="2100" b="0">
                <a:solidFill>
                  <a:srgbClr val="173D39"/>
                </a:solidFill>
              </a:defRPr>
            </a:lvl9pPr>
          </a:lstStyle>
          <a:p xmlns:a="http://schemas.openxmlformats.org/drawingml/2006/main">
            <a:pPr>
              <a:defRPr sz="2100" b="0">
                <a:solidFill>
                  <a:srgbClr val="173D39"/>
                </a:solidFill>
              </a:defRPr>
            </a:pPr>
            <a:r>
              <a:rPr sz="2100" b="0">
                <a:solidFill>
                  <a:srgbClr val="173D39"/>
                </a:solidFill>
              </a:rPr>
              <a:t>circuits</a:t>
            </a:r>
          </a:p>
        </p:txBody>
      </p:sp>
      <p:sp>
        <p:nvSpPr>
          <p:cNvPr id="8" name="">
            <a:extLst xmlns:a="http://schemas.openxmlformats.org/drawingml/2006/main">
              <a:ext uri="{FF2B5EF4-FFF2-40B4-BE49-F238E27FC236}">
                <a16:creationId xmlns:a16="http://schemas.microsoft.com/office/drawing/2014/main" id="{C974A228-AEC2-40B0-9233-CA068F76A4AD}"/>
              </a:ext>
            </a:extLst>
          </p:cNvPr>
          <p:cNvSpPr>
            <a:spLocks xmlns:a="http://schemas.openxmlformats.org/drawingml/2006/main" noGrp="1"/>
          </p:cNvSpPr>
          <p:nvPr/>
        </p:nvSpPr>
        <p:spPr>
          <a:xfrm xmlns:a="http://schemas.openxmlformats.org/drawingml/2006/main">
            <a:off x="9525000" y="192405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46E61"/>
                </a:solidFill>
              </a:defRPr>
            </a:defPPr>
            <a:lvl1pPr>
              <a:defRPr sz="5850" b="1">
                <a:solidFill>
                  <a:srgbClr val="146E61"/>
                </a:solidFill>
              </a:defRPr>
            </a:lvl1pPr>
            <a:lvl2pPr>
              <a:defRPr sz="5850" b="1">
                <a:solidFill>
                  <a:srgbClr val="146E61"/>
                </a:solidFill>
              </a:defRPr>
            </a:lvl2pPr>
            <a:lvl3pPr>
              <a:defRPr sz="5850" b="1">
                <a:solidFill>
                  <a:srgbClr val="146E61"/>
                </a:solidFill>
              </a:defRPr>
            </a:lvl3pPr>
            <a:lvl4pPr>
              <a:defRPr sz="5850" b="1">
                <a:solidFill>
                  <a:srgbClr val="146E61"/>
                </a:solidFill>
              </a:defRPr>
            </a:lvl4pPr>
            <a:lvl5pPr>
              <a:defRPr sz="5850" b="1">
                <a:solidFill>
                  <a:srgbClr val="146E61"/>
                </a:solidFill>
              </a:defRPr>
            </a:lvl5pPr>
            <a:lvl6pPr>
              <a:defRPr sz="5850" b="1">
                <a:solidFill>
                  <a:srgbClr val="146E61"/>
                </a:solidFill>
              </a:defRPr>
            </a:lvl6pPr>
            <a:lvl7pPr>
              <a:defRPr sz="5850" b="1">
                <a:solidFill>
                  <a:srgbClr val="146E61"/>
                </a:solidFill>
              </a:defRPr>
            </a:lvl7pPr>
            <a:lvl8pPr>
              <a:defRPr sz="5850" b="1">
                <a:solidFill>
                  <a:srgbClr val="146E61"/>
                </a:solidFill>
              </a:defRPr>
            </a:lvl8pPr>
            <a:lvl9pPr>
              <a:defRPr sz="5850" b="1">
                <a:solidFill>
                  <a:srgbClr val="146E61"/>
                </a:solidFill>
              </a:defRPr>
            </a:lvl9pPr>
          </a:lstStyle>
          <a:p xmlns:a="http://schemas.openxmlformats.org/drawingml/2006/main">
            <a:pPr>
              <a:defRPr sz="5850" b="1">
                <a:solidFill>
                  <a:srgbClr val="146E61"/>
                </a:solidFill>
              </a:defRPr>
            </a:pPr>
            <a:r>
              <a:rPr sz="5850" b="1">
                <a:solidFill>
                  <a:srgbClr val="146E61"/>
                </a:solidFill>
              </a:rPr>
              <a:t>15</a:t>
            </a:r>
          </a:p>
        </p:txBody>
      </p:sp>
      <p:sp>
        <p:nvSpPr>
          <p:cNvPr id="9" name="">
            <a:extLst xmlns:a="http://schemas.openxmlformats.org/drawingml/2006/main">
              <a:ext uri="{FF2B5EF4-FFF2-40B4-BE49-F238E27FC236}">
                <a16:creationId xmlns:a16="http://schemas.microsoft.com/office/drawing/2014/main" id="{ADE57E7F-3130-498D-B0AA-AEA88D4C8541}"/>
              </a:ext>
            </a:extLst>
          </p:cNvPr>
          <p:cNvSpPr>
            <a:spLocks xmlns:a="http://schemas.openxmlformats.org/drawingml/2006/main" noGrp="1"/>
          </p:cNvSpPr>
          <p:nvPr/>
        </p:nvSpPr>
        <p:spPr>
          <a:xfrm xmlns:a="http://schemas.openxmlformats.org/drawingml/2006/main">
            <a:off x="9505950" y="29718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D39"/>
                </a:solidFill>
              </a:defRPr>
            </a:defPPr>
            <a:lvl1pPr>
              <a:defRPr sz="2100" b="0">
                <a:solidFill>
                  <a:srgbClr val="173D39"/>
                </a:solidFill>
              </a:defRPr>
            </a:lvl1pPr>
            <a:lvl2pPr>
              <a:defRPr sz="2100" b="0">
                <a:solidFill>
                  <a:srgbClr val="173D39"/>
                </a:solidFill>
              </a:defRPr>
            </a:lvl2pPr>
            <a:lvl3pPr>
              <a:defRPr sz="2100" b="0">
                <a:solidFill>
                  <a:srgbClr val="173D39"/>
                </a:solidFill>
              </a:defRPr>
            </a:lvl3pPr>
            <a:lvl4pPr>
              <a:defRPr sz="2100" b="0">
                <a:solidFill>
                  <a:srgbClr val="173D39"/>
                </a:solidFill>
              </a:defRPr>
            </a:lvl4pPr>
            <a:lvl5pPr>
              <a:defRPr sz="2100" b="0">
                <a:solidFill>
                  <a:srgbClr val="173D39"/>
                </a:solidFill>
              </a:defRPr>
            </a:lvl5pPr>
            <a:lvl6pPr>
              <a:defRPr sz="2100" b="0">
                <a:solidFill>
                  <a:srgbClr val="173D39"/>
                </a:solidFill>
              </a:defRPr>
            </a:lvl6pPr>
            <a:lvl7pPr>
              <a:defRPr sz="2100" b="0">
                <a:solidFill>
                  <a:srgbClr val="173D39"/>
                </a:solidFill>
              </a:defRPr>
            </a:lvl7pPr>
            <a:lvl8pPr>
              <a:defRPr sz="2100" b="0">
                <a:solidFill>
                  <a:srgbClr val="173D39"/>
                </a:solidFill>
              </a:defRPr>
            </a:lvl8pPr>
            <a:lvl9pPr>
              <a:defRPr sz="2100" b="0">
                <a:solidFill>
                  <a:srgbClr val="173D39"/>
                </a:solidFill>
              </a:defRPr>
            </a:lvl9pPr>
          </a:lstStyle>
          <a:p xmlns:a="http://schemas.openxmlformats.org/drawingml/2006/main">
            <a:pPr>
              <a:defRPr sz="2100" b="0">
                <a:solidFill>
                  <a:srgbClr val="173D39"/>
                </a:solidFill>
              </a:defRPr>
            </a:pPr>
            <a:r>
              <a:rPr sz="2100" b="0">
                <a:solidFill>
                  <a:srgbClr val="173D39"/>
                </a:solidFill>
              </a:rPr>
              <a:t>cleaned tables</a:t>
            </a:r>
          </a:p>
        </p:txBody>
      </p:sp>
      <p:sp>
        <p:nvSpPr>
          <p:cNvPr id="10" name="">
            <a:extLst xmlns:a="http://schemas.openxmlformats.org/drawingml/2006/main">
              <a:ext uri="{FF2B5EF4-FFF2-40B4-BE49-F238E27FC236}">
                <a16:creationId xmlns:a16="http://schemas.microsoft.com/office/drawing/2014/main" id="{042076C1-61CE-4EEB-A8E9-59B28F322382}"/>
              </a:ext>
            </a:extLst>
          </p:cNvPr>
          <p:cNvSpPr>
            <a:spLocks xmlns:a="http://schemas.openxmlformats.org/drawingml/2006/main" noGrp="1"/>
          </p:cNvSpPr>
          <p:nvPr/>
        </p:nvSpPr>
        <p:spPr>
          <a:xfrm xmlns:a="http://schemas.openxmlformats.org/drawingml/2006/main">
            <a:off x="647700" y="4048125"/>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D39"/>
                </a:solidFill>
              </a:defRPr>
            </a:defPPr>
            <a:lvl1pPr>
              <a:defRPr sz="2400" b="1">
                <a:solidFill>
                  <a:srgbClr val="173D39"/>
                </a:solidFill>
              </a:defRPr>
            </a:lvl1pPr>
            <a:lvl2pPr>
              <a:defRPr sz="2400" b="1">
                <a:solidFill>
                  <a:srgbClr val="173D39"/>
                </a:solidFill>
              </a:defRPr>
            </a:lvl2pPr>
            <a:lvl3pPr>
              <a:defRPr sz="2400" b="1">
                <a:solidFill>
                  <a:srgbClr val="173D39"/>
                </a:solidFill>
              </a:defRPr>
            </a:lvl3pPr>
            <a:lvl4pPr>
              <a:defRPr sz="2400" b="1">
                <a:solidFill>
                  <a:srgbClr val="173D39"/>
                </a:solidFill>
              </a:defRPr>
            </a:lvl4pPr>
            <a:lvl5pPr>
              <a:defRPr sz="2400" b="1">
                <a:solidFill>
                  <a:srgbClr val="173D39"/>
                </a:solidFill>
              </a:defRPr>
            </a:lvl5pPr>
            <a:lvl6pPr>
              <a:defRPr sz="2400" b="1">
                <a:solidFill>
                  <a:srgbClr val="173D39"/>
                </a:solidFill>
              </a:defRPr>
            </a:lvl6pPr>
            <a:lvl7pPr>
              <a:defRPr sz="2400" b="1">
                <a:solidFill>
                  <a:srgbClr val="173D39"/>
                </a:solidFill>
              </a:defRPr>
            </a:lvl7pPr>
            <a:lvl8pPr>
              <a:defRPr sz="2400" b="1">
                <a:solidFill>
                  <a:srgbClr val="173D39"/>
                </a:solidFill>
              </a:defRPr>
            </a:lvl8pPr>
            <a:lvl9pPr>
              <a:defRPr sz="2400" b="1">
                <a:solidFill>
                  <a:srgbClr val="173D39"/>
                </a:solidFill>
              </a:defRPr>
            </a:lvl9pPr>
          </a:lstStyle>
          <a:p xmlns:a="http://schemas.openxmlformats.org/drawingml/2006/main">
            <a:pPr>
              <a:defRPr sz="2400" b="1">
                <a:solidFill>
                  <a:srgbClr val="173D39"/>
                </a:solidFill>
              </a:defRPr>
            </a:pPr>
            <a:r>
              <a:rPr sz="2400" b="1">
                <a:solidFill>
                  <a:srgbClr val="173D39"/>
                </a:solidFill>
              </a:rPr>
              <a:t>Network relationships identify the equipment feeding each home.</a:t>
            </a:r>
          </a:p>
        </p:txBody>
      </p:sp>
      <p:sp>
        <p:nvSpPr>
          <p:cNvPr id="11" name="">
            <a:extLst xmlns:a="http://schemas.openxmlformats.org/drawingml/2006/main">
              <a:ext uri="{FF2B5EF4-FFF2-40B4-BE49-F238E27FC236}">
                <a16:creationId xmlns:a16="http://schemas.microsoft.com/office/drawing/2014/main" id="{3F442F78-F821-4F15-9265-D00EFEF831F3}"/>
              </a:ext>
            </a:extLst>
          </p:cNvPr>
          <p:cNvSpPr>
            <a:spLocks xmlns:a="http://schemas.openxmlformats.org/drawingml/2006/main" noGrp="1"/>
          </p:cNvSpPr>
          <p:nvPr/>
        </p:nvSpPr>
        <p:spPr>
          <a:xfrm xmlns:a="http://schemas.openxmlformats.org/drawingml/2006/main">
            <a:off x="647700" y="51244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706A"/>
                </a:solidFill>
              </a:defRPr>
            </a:defPPr>
            <a:lvl1pPr>
              <a:defRPr sz="2100" b="0">
                <a:solidFill>
                  <a:srgbClr val="58706A"/>
                </a:solidFill>
              </a:defRPr>
            </a:lvl1pPr>
            <a:lvl2pPr>
              <a:defRPr sz="2100" b="0">
                <a:solidFill>
                  <a:srgbClr val="58706A"/>
                </a:solidFill>
              </a:defRPr>
            </a:lvl2pPr>
            <a:lvl3pPr>
              <a:defRPr sz="2100" b="0">
                <a:solidFill>
                  <a:srgbClr val="58706A"/>
                </a:solidFill>
              </a:defRPr>
            </a:lvl3pPr>
            <a:lvl4pPr>
              <a:defRPr sz="2100" b="0">
                <a:solidFill>
                  <a:srgbClr val="58706A"/>
                </a:solidFill>
              </a:defRPr>
            </a:lvl4pPr>
            <a:lvl5pPr>
              <a:defRPr sz="2100" b="0">
                <a:solidFill>
                  <a:srgbClr val="58706A"/>
                </a:solidFill>
              </a:defRPr>
            </a:lvl5pPr>
            <a:lvl6pPr>
              <a:defRPr sz="2100" b="0">
                <a:solidFill>
                  <a:srgbClr val="58706A"/>
                </a:solidFill>
              </a:defRPr>
            </a:lvl6pPr>
            <a:lvl7pPr>
              <a:defRPr sz="2100" b="0">
                <a:solidFill>
                  <a:srgbClr val="58706A"/>
                </a:solidFill>
              </a:defRPr>
            </a:lvl7pPr>
            <a:lvl8pPr>
              <a:defRPr sz="2100" b="0">
                <a:solidFill>
                  <a:srgbClr val="58706A"/>
                </a:solidFill>
              </a:defRPr>
            </a:lvl8pPr>
            <a:lvl9pPr>
              <a:defRPr sz="2100" b="0">
                <a:solidFill>
                  <a:srgbClr val="58706A"/>
                </a:solidFill>
              </a:defRPr>
            </a:lvl9pPr>
          </a:lstStyle>
          <a:p xmlns:a="http://schemas.openxmlformats.org/drawingml/2006/main">
            <a:pPr>
              <a:defRPr sz="2100" b="0">
                <a:solidFill>
                  <a:srgbClr val="58706A"/>
                </a:solidFill>
              </a:defRPr>
            </a:pPr>
            <a:r>
              <a:rPr sz="2100" b="0">
                <a:solidFill>
                  <a:srgbClr val="58706A"/>
                </a:solidFill>
              </a:rPr>
              <a:t>Historical storm damage informs risk. AEP labor references and repair dependencies inform restoration scenarios.</a:t>
            </a:r>
          </a:p>
        </p:txBody>
      </p:sp>
    </p:spTree>
    <p:extLst>
      <p:ext uri="{BB962C8B-B14F-4D97-AF65-F5344CB8AC3E}">
        <p14:creationId xmlns:p14="http://schemas.microsoft.com/office/powerpoint/2010/main" val="1432301732"/>
      </p:ext>
    </p:extLst>
  </p:cSld>
</p:sld>
</file>

<file path=ppt/slides/slide3.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5467117-1411-4414-A6FC-53E6BEE9BE63}"/>
              </a:ext>
            </a:extLst>
          </p:cNvPr>
          <p:cNvSpPr>
            <a:spLocks xmlns:a="http://schemas.openxmlformats.org/drawingml/2006/main" noGrp="1"/>
          </p:cNvSpPr>
          <p:nvPr/>
        </p:nvSpPr>
        <p:spPr>
          <a:xfrm xmlns:a="http://schemas.openxmlformats.org/drawingml/2006/main">
            <a:off x="609600" y="457200"/>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D39"/>
                </a:solidFill>
              </a:defRPr>
            </a:defPPr>
            <a:lvl1pPr>
              <a:defRPr sz="3600" b="1">
                <a:solidFill>
                  <a:srgbClr val="173D39"/>
                </a:solidFill>
              </a:defRPr>
            </a:lvl1pPr>
            <a:lvl2pPr>
              <a:defRPr sz="3600" b="1">
                <a:solidFill>
                  <a:srgbClr val="173D39"/>
                </a:solidFill>
              </a:defRPr>
            </a:lvl2pPr>
            <a:lvl3pPr>
              <a:defRPr sz="3600" b="1">
                <a:solidFill>
                  <a:srgbClr val="173D39"/>
                </a:solidFill>
              </a:defRPr>
            </a:lvl3pPr>
            <a:lvl4pPr>
              <a:defRPr sz="3600" b="1">
                <a:solidFill>
                  <a:srgbClr val="173D39"/>
                </a:solidFill>
              </a:defRPr>
            </a:lvl4pPr>
            <a:lvl5pPr>
              <a:defRPr sz="3600" b="1">
                <a:solidFill>
                  <a:srgbClr val="173D39"/>
                </a:solidFill>
              </a:defRPr>
            </a:lvl5pPr>
            <a:lvl6pPr>
              <a:defRPr sz="3600" b="1">
                <a:solidFill>
                  <a:srgbClr val="173D39"/>
                </a:solidFill>
              </a:defRPr>
            </a:lvl6pPr>
            <a:lvl7pPr>
              <a:defRPr sz="3600" b="1">
                <a:solidFill>
                  <a:srgbClr val="173D39"/>
                </a:solidFill>
              </a:defRPr>
            </a:lvl7pPr>
            <a:lvl8pPr>
              <a:defRPr sz="3600" b="1">
                <a:solidFill>
                  <a:srgbClr val="173D39"/>
                </a:solidFill>
              </a:defRPr>
            </a:lvl8pPr>
            <a:lvl9pPr>
              <a:defRPr sz="3600" b="1">
                <a:solidFill>
                  <a:srgbClr val="173D39"/>
                </a:solidFill>
              </a:defRPr>
            </a:lvl9pPr>
          </a:lstStyle>
          <a:p xmlns:a="http://schemas.openxmlformats.org/drawingml/2006/main">
            <a:pPr>
              <a:defRPr sz="3600" b="1">
                <a:solidFill>
                  <a:srgbClr val="173D39"/>
                </a:solidFill>
              </a:defRPr>
            </a:pPr>
            <a:r>
              <a:rPr sz="3600" b="1">
                <a:solidFill>
                  <a:srgbClr val="173D39"/>
                </a:solidFill>
              </a:rPr>
              <a:t>Your power path makes risk visible</a:t>
            </a:r>
          </a:p>
        </p:txBody>
      </p:sp>
      <p:sp>
        <p:nvSpPr>
          <p:cNvPr id="3" name="">
            <a:extLst xmlns:a="http://schemas.openxmlformats.org/drawingml/2006/main">
              <a:ext uri="{FF2B5EF4-FFF2-40B4-BE49-F238E27FC236}">
                <a16:creationId xmlns:a16="http://schemas.microsoft.com/office/drawing/2014/main" id="{B7FB3AD5-8159-4674-B543-16E0B7146E54}"/>
              </a:ext>
            </a:extLst>
          </p:cNvPr>
          <p:cNvSpPr>
            <a:spLocks xmlns:a="http://schemas.openxmlformats.org/drawingml/2006/main" noGrp="1"/>
          </p:cNvSpPr>
          <p:nvPr/>
        </p:nvSpPr>
        <p:spPr>
          <a:xfrm xmlns:a="http://schemas.openxmlformats.org/drawingml/2006/main">
            <a:off x="11087100" y="62484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A"/>
                </a:solidFill>
              </a:defRPr>
            </a:defPPr>
            <a:lvl1pPr>
              <a:defRPr sz="1350" b="0">
                <a:solidFill>
                  <a:srgbClr val="58706A"/>
                </a:solidFill>
              </a:defRPr>
            </a:lvl1pPr>
            <a:lvl2pPr>
              <a:defRPr sz="1350" b="0">
                <a:solidFill>
                  <a:srgbClr val="58706A"/>
                </a:solidFill>
              </a:defRPr>
            </a:lvl2pPr>
            <a:lvl3pPr>
              <a:defRPr sz="1350" b="0">
                <a:solidFill>
                  <a:srgbClr val="58706A"/>
                </a:solidFill>
              </a:defRPr>
            </a:lvl3pPr>
            <a:lvl4pPr>
              <a:defRPr sz="1350" b="0">
                <a:solidFill>
                  <a:srgbClr val="58706A"/>
                </a:solidFill>
              </a:defRPr>
            </a:lvl4pPr>
            <a:lvl5pPr>
              <a:defRPr sz="1350" b="0">
                <a:solidFill>
                  <a:srgbClr val="58706A"/>
                </a:solidFill>
              </a:defRPr>
            </a:lvl5pPr>
            <a:lvl6pPr>
              <a:defRPr sz="1350" b="0">
                <a:solidFill>
                  <a:srgbClr val="58706A"/>
                </a:solidFill>
              </a:defRPr>
            </a:lvl6pPr>
            <a:lvl7pPr>
              <a:defRPr sz="1350" b="0">
                <a:solidFill>
                  <a:srgbClr val="58706A"/>
                </a:solidFill>
              </a:defRPr>
            </a:lvl7pPr>
            <a:lvl8pPr>
              <a:defRPr sz="1350" b="0">
                <a:solidFill>
                  <a:srgbClr val="58706A"/>
                </a:solidFill>
              </a:defRPr>
            </a:lvl8pPr>
            <a:lvl9pPr>
              <a:defRPr sz="1350" b="0">
                <a:solidFill>
                  <a:srgbClr val="58706A"/>
                </a:solidFill>
              </a:defRPr>
            </a:lvl9pPr>
          </a:lstStyle>
          <a:p xmlns:a="http://schemas.openxmlformats.org/drawingml/2006/main">
            <a:pPr>
              <a:defRPr sz="1350" b="0">
                <a:solidFill>
                  <a:srgbClr val="58706A"/>
                </a:solidFill>
              </a:defRPr>
            </a:pPr>
            <a:r>
              <a:rPr sz="1350" b="0">
                <a:solidFill>
                  <a:srgbClr val="58706A"/>
                </a:solidFill>
              </a:rPr>
              <a:t>03</a:t>
            </a:r>
          </a:p>
        </p:txBody>
      </p:sp>
      <p:pic>
        <p:nvPicPr>
          <p:cNvPr id="4" name="">
            <a:extLst xmlns:a="http://schemas.openxmlformats.org/drawingml/2006/main">
              <a:ext uri="{FF2B5EF4-FFF2-40B4-BE49-F238E27FC236}">
                <a16:creationId xmlns:a16="http://schemas.microsoft.com/office/drawing/2014/main" id="{50AC1F18-2C2D-4989-8EB8-B1DFA6C72645}"/>
              </a:ext>
            </a:extLst>
          </p:cNvPr>
          <p:cNvPicPr>
            <a:picLocks xmlns:a="http://schemas.openxmlformats.org/drawingml/2006/main" noChangeAspect="1"/>
          </p:cNvPicPr>
          <p:nvPr/>
        </p:nvPicPr>
        <p:blipFill>
          <a:blip xmlns:r="http://schemas.openxmlformats.org/officeDocument/2006/relationships" xmlns:a="http://schemas.openxmlformats.org/drawingml/2006/main" r:embed="R829653e475344feb"/>
          <a:stretch xmlns:a="http://schemas.openxmlformats.org/drawingml/2006/main"/>
        </p:blipFill>
        <p:spPr>
          <a:xfrm xmlns:a="http://schemas.openxmlformats.org/drawingml/2006/main">
            <a:off x="612732" y="1790700"/>
            <a:ext cx="7708987" cy="4362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F4D37D5-8149-4C07-806E-8E03D30E1382}"/>
              </a:ext>
            </a:extLst>
          </p:cNvPr>
          <p:cNvSpPr>
            <a:spLocks xmlns:a="http://schemas.openxmlformats.org/drawingml/2006/main" noGrp="1"/>
          </p:cNvSpPr>
          <p:nvPr/>
        </p:nvSpPr>
        <p:spPr>
          <a:xfrm xmlns:a="http://schemas.openxmlformats.org/drawingml/2006/main">
            <a:off x="8724900" y="1971675"/>
            <a:ext cx="2800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6E61"/>
                </a:solidFill>
              </a:defRPr>
            </a:defPPr>
            <a:lvl1pPr>
              <a:defRPr sz="2250" b="1">
                <a:solidFill>
                  <a:srgbClr val="146E61"/>
                </a:solidFill>
              </a:defRPr>
            </a:lvl1pPr>
            <a:lvl2pPr>
              <a:defRPr sz="2250" b="1">
                <a:solidFill>
                  <a:srgbClr val="146E61"/>
                </a:solidFill>
              </a:defRPr>
            </a:lvl2pPr>
            <a:lvl3pPr>
              <a:defRPr sz="2250" b="1">
                <a:solidFill>
                  <a:srgbClr val="146E61"/>
                </a:solidFill>
              </a:defRPr>
            </a:lvl3pPr>
            <a:lvl4pPr>
              <a:defRPr sz="2250" b="1">
                <a:solidFill>
                  <a:srgbClr val="146E61"/>
                </a:solidFill>
              </a:defRPr>
            </a:lvl4pPr>
            <a:lvl5pPr>
              <a:defRPr sz="2250" b="1">
                <a:solidFill>
                  <a:srgbClr val="146E61"/>
                </a:solidFill>
              </a:defRPr>
            </a:lvl5pPr>
            <a:lvl6pPr>
              <a:defRPr sz="2250" b="1">
                <a:solidFill>
                  <a:srgbClr val="146E61"/>
                </a:solidFill>
              </a:defRPr>
            </a:lvl6pPr>
            <a:lvl7pPr>
              <a:defRPr sz="2250" b="1">
                <a:solidFill>
                  <a:srgbClr val="146E61"/>
                </a:solidFill>
              </a:defRPr>
            </a:lvl7pPr>
            <a:lvl8pPr>
              <a:defRPr sz="2250" b="1">
                <a:solidFill>
                  <a:srgbClr val="146E61"/>
                </a:solidFill>
              </a:defRPr>
            </a:lvl8pPr>
            <a:lvl9pPr>
              <a:defRPr sz="2250" b="1">
                <a:solidFill>
                  <a:srgbClr val="146E61"/>
                </a:solidFill>
              </a:defRPr>
            </a:lvl9pPr>
          </a:lstStyle>
          <a:p xmlns:a="http://schemas.openxmlformats.org/drawingml/2006/main">
            <a:pPr>
              <a:defRPr sz="2250" b="1">
                <a:solidFill>
                  <a:srgbClr val="146E61"/>
                </a:solidFill>
              </a:defRPr>
            </a:pPr>
            <a:r>
              <a:rPr sz="2250" b="1">
                <a:solidFill>
                  <a:srgbClr val="146E61"/>
                </a:solidFill>
              </a:rPr>
              <a:t>One selected home</a:t>
            </a:r>
          </a:p>
        </p:txBody>
      </p:sp>
      <p:sp>
        <p:nvSpPr>
          <p:cNvPr id="6" name="">
            <a:extLst xmlns:a="http://schemas.openxmlformats.org/drawingml/2006/main">
              <a:ext uri="{FF2B5EF4-FFF2-40B4-BE49-F238E27FC236}">
                <a16:creationId xmlns:a16="http://schemas.microsoft.com/office/drawing/2014/main" id="{A0CD4B08-F738-4617-974B-5E42C95F84AD}"/>
              </a:ext>
            </a:extLst>
          </p:cNvPr>
          <p:cNvSpPr>
            <a:spLocks xmlns:a="http://schemas.openxmlformats.org/drawingml/2006/main" noGrp="1"/>
          </p:cNvSpPr>
          <p:nvPr/>
        </p:nvSpPr>
        <p:spPr>
          <a:xfrm xmlns:a="http://schemas.openxmlformats.org/drawingml/2006/main">
            <a:off x="8724900" y="2771775"/>
            <a:ext cx="2800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D39"/>
                </a:solidFill>
              </a:defRPr>
            </a:defPPr>
            <a:lvl1pPr>
              <a:defRPr sz="2025" b="0">
                <a:solidFill>
                  <a:srgbClr val="173D39"/>
                </a:solidFill>
              </a:defRPr>
            </a:lvl1pPr>
            <a:lvl2pPr>
              <a:defRPr sz="2025" b="0">
                <a:solidFill>
                  <a:srgbClr val="173D39"/>
                </a:solidFill>
              </a:defRPr>
            </a:lvl2pPr>
            <a:lvl3pPr>
              <a:defRPr sz="2025" b="0">
                <a:solidFill>
                  <a:srgbClr val="173D39"/>
                </a:solidFill>
              </a:defRPr>
            </a:lvl3pPr>
            <a:lvl4pPr>
              <a:defRPr sz="2025" b="0">
                <a:solidFill>
                  <a:srgbClr val="173D39"/>
                </a:solidFill>
              </a:defRPr>
            </a:lvl4pPr>
            <a:lvl5pPr>
              <a:defRPr sz="2025" b="0">
                <a:solidFill>
                  <a:srgbClr val="173D39"/>
                </a:solidFill>
              </a:defRPr>
            </a:lvl5pPr>
            <a:lvl6pPr>
              <a:defRPr sz="2025" b="0">
                <a:solidFill>
                  <a:srgbClr val="173D39"/>
                </a:solidFill>
              </a:defRPr>
            </a:lvl6pPr>
            <a:lvl7pPr>
              <a:defRPr sz="2025" b="0">
                <a:solidFill>
                  <a:srgbClr val="173D39"/>
                </a:solidFill>
              </a:defRPr>
            </a:lvl7pPr>
            <a:lvl8pPr>
              <a:defRPr sz="2025" b="0">
                <a:solidFill>
                  <a:srgbClr val="173D39"/>
                </a:solidFill>
              </a:defRPr>
            </a:lvl8pPr>
            <a:lvl9pPr>
              <a:defRPr sz="2025" b="0">
                <a:solidFill>
                  <a:srgbClr val="173D39"/>
                </a:solidFill>
              </a:defRPr>
            </a:lvl9pPr>
          </a:lstStyle>
          <a:p xmlns:a="http://schemas.openxmlformats.org/drawingml/2006/main">
            <a:pPr>
              <a:defRPr sz="2025" b="0">
                <a:solidFill>
                  <a:srgbClr val="173D39"/>
                </a:solidFill>
              </a:defRPr>
            </a:pPr>
            <a:r>
              <a:rPr sz="2025" b="0">
                <a:solidFill>
                  <a:srgbClr val="173D39"/>
                </a:solidFill>
              </a:rPr>
              <a:t>See the upstream equipment and the weakest link.</a:t>
            </a:r>
          </a:p>
        </p:txBody>
      </p:sp>
      <p:sp>
        <p:nvSpPr>
          <p:cNvPr id="7" name="">
            <a:extLst xmlns:a="http://schemas.openxmlformats.org/drawingml/2006/main">
              <a:ext uri="{FF2B5EF4-FFF2-40B4-BE49-F238E27FC236}">
                <a16:creationId xmlns:a16="http://schemas.microsoft.com/office/drawing/2014/main" id="{0187283F-5F5A-4337-906F-9E46A0FB2E0F}"/>
              </a:ext>
            </a:extLst>
          </p:cNvPr>
          <p:cNvSpPr>
            <a:spLocks xmlns:a="http://schemas.openxmlformats.org/drawingml/2006/main" noGrp="1"/>
          </p:cNvSpPr>
          <p:nvPr/>
        </p:nvSpPr>
        <p:spPr>
          <a:xfrm xmlns:a="http://schemas.openxmlformats.org/drawingml/2006/main">
            <a:off x="8724900" y="4305300"/>
            <a:ext cx="2800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6E61"/>
                </a:solidFill>
              </a:defRPr>
            </a:defPPr>
            <a:lvl1pPr>
              <a:defRPr sz="2250" b="1">
                <a:solidFill>
                  <a:srgbClr val="146E61"/>
                </a:solidFill>
              </a:defRPr>
            </a:lvl1pPr>
            <a:lvl2pPr>
              <a:defRPr sz="2250" b="1">
                <a:solidFill>
                  <a:srgbClr val="146E61"/>
                </a:solidFill>
              </a:defRPr>
            </a:lvl2pPr>
            <a:lvl3pPr>
              <a:defRPr sz="2250" b="1">
                <a:solidFill>
                  <a:srgbClr val="146E61"/>
                </a:solidFill>
              </a:defRPr>
            </a:lvl3pPr>
            <a:lvl4pPr>
              <a:defRPr sz="2250" b="1">
                <a:solidFill>
                  <a:srgbClr val="146E61"/>
                </a:solidFill>
              </a:defRPr>
            </a:lvl4pPr>
            <a:lvl5pPr>
              <a:defRPr sz="2250" b="1">
                <a:solidFill>
                  <a:srgbClr val="146E61"/>
                </a:solidFill>
              </a:defRPr>
            </a:lvl5pPr>
            <a:lvl6pPr>
              <a:defRPr sz="2250" b="1">
                <a:solidFill>
                  <a:srgbClr val="146E61"/>
                </a:solidFill>
              </a:defRPr>
            </a:lvl6pPr>
            <a:lvl7pPr>
              <a:defRPr sz="2250" b="1">
                <a:solidFill>
                  <a:srgbClr val="146E61"/>
                </a:solidFill>
              </a:defRPr>
            </a:lvl7pPr>
            <a:lvl8pPr>
              <a:defRPr sz="2250" b="1">
                <a:solidFill>
                  <a:srgbClr val="146E61"/>
                </a:solidFill>
              </a:defRPr>
            </a:lvl8pPr>
            <a:lvl9pPr>
              <a:defRPr sz="2250" b="1">
                <a:solidFill>
                  <a:srgbClr val="146E61"/>
                </a:solidFill>
              </a:defRPr>
            </a:lvl9pPr>
          </a:lstStyle>
          <a:p xmlns:a="http://schemas.openxmlformats.org/drawingml/2006/main">
            <a:pPr>
              <a:defRPr sz="2250" b="1">
                <a:solidFill>
                  <a:srgbClr val="146E61"/>
                </a:solidFill>
              </a:defRPr>
            </a:pPr>
            <a:r>
              <a:rPr sz="2250" b="1">
                <a:solidFill>
                  <a:srgbClr val="146E61"/>
                </a:solidFill>
              </a:rPr>
              <a:t>Ask why</a:t>
            </a:r>
          </a:p>
        </p:txBody>
      </p:sp>
      <p:sp>
        <p:nvSpPr>
          <p:cNvPr id="8" name="">
            <a:extLst xmlns:a="http://schemas.openxmlformats.org/drawingml/2006/main">
              <a:ext uri="{FF2B5EF4-FFF2-40B4-BE49-F238E27FC236}">
                <a16:creationId xmlns:a16="http://schemas.microsoft.com/office/drawing/2014/main" id="{201AC574-9965-431E-ACAC-F7D4E789F165}"/>
              </a:ext>
            </a:extLst>
          </p:cNvPr>
          <p:cNvSpPr>
            <a:spLocks xmlns:a="http://schemas.openxmlformats.org/drawingml/2006/main" noGrp="1"/>
          </p:cNvSpPr>
          <p:nvPr/>
        </p:nvSpPr>
        <p:spPr>
          <a:xfrm xmlns:a="http://schemas.openxmlformats.org/drawingml/2006/main">
            <a:off x="8724900" y="4914900"/>
            <a:ext cx="2800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D39"/>
                </a:solidFill>
              </a:defRPr>
            </a:defPPr>
            <a:lvl1pPr>
              <a:defRPr sz="2025" b="0">
                <a:solidFill>
                  <a:srgbClr val="173D39"/>
                </a:solidFill>
              </a:defRPr>
            </a:lvl1pPr>
            <a:lvl2pPr>
              <a:defRPr sz="2025" b="0">
                <a:solidFill>
                  <a:srgbClr val="173D39"/>
                </a:solidFill>
              </a:defRPr>
            </a:lvl2pPr>
            <a:lvl3pPr>
              <a:defRPr sz="2025" b="0">
                <a:solidFill>
                  <a:srgbClr val="173D39"/>
                </a:solidFill>
              </a:defRPr>
            </a:lvl3pPr>
            <a:lvl4pPr>
              <a:defRPr sz="2025" b="0">
                <a:solidFill>
                  <a:srgbClr val="173D39"/>
                </a:solidFill>
              </a:defRPr>
            </a:lvl4pPr>
            <a:lvl5pPr>
              <a:defRPr sz="2025" b="0">
                <a:solidFill>
                  <a:srgbClr val="173D39"/>
                </a:solidFill>
              </a:defRPr>
            </a:lvl5pPr>
            <a:lvl6pPr>
              <a:defRPr sz="2025" b="0">
                <a:solidFill>
                  <a:srgbClr val="173D39"/>
                </a:solidFill>
              </a:defRPr>
            </a:lvl6pPr>
            <a:lvl7pPr>
              <a:defRPr sz="2025" b="0">
                <a:solidFill>
                  <a:srgbClr val="173D39"/>
                </a:solidFill>
              </a:defRPr>
            </a:lvl7pPr>
            <a:lvl8pPr>
              <a:defRPr sz="2025" b="0">
                <a:solidFill>
                  <a:srgbClr val="173D39"/>
                </a:solidFill>
              </a:defRPr>
            </a:lvl8pPr>
            <a:lvl9pPr>
              <a:defRPr sz="2025" b="0">
                <a:solidFill>
                  <a:srgbClr val="173D39"/>
                </a:solidFill>
              </a:defRPr>
            </a:lvl9pPr>
          </a:lstStyle>
          <a:p xmlns:a="http://schemas.openxmlformats.org/drawingml/2006/main">
            <a:pPr>
              <a:defRPr sz="2025" b="0">
                <a:solidFill>
                  <a:srgbClr val="173D39"/>
                </a:solidFill>
              </a:defRPr>
            </a:pPr>
            <a:r>
              <a:rPr sz="2025" b="0">
                <a:solidFill>
                  <a:srgbClr val="173D39"/>
                </a:solidFill>
              </a:rPr>
              <a:t>The concierge explains the same model results in plain language.</a:t>
            </a:r>
          </a:p>
        </p:txBody>
      </p:sp>
    </p:spTree>
    <p:extLst>
      <p:ext uri="{BB962C8B-B14F-4D97-AF65-F5344CB8AC3E}">
        <p14:creationId xmlns:p14="http://schemas.microsoft.com/office/powerpoint/2010/main" val="1109272946"/>
      </p:ext>
    </p:extLst>
  </p:cSld>
</p:sld>
</file>

<file path=ppt/slides/slide4.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4C04BA-3621-4385-A518-38322BC5E454}"/>
              </a:ext>
            </a:extLst>
          </p:cNvPr>
          <p:cNvSpPr>
            <a:spLocks xmlns:a="http://schemas.openxmlformats.org/drawingml/2006/main" noGrp="1"/>
          </p:cNvSpPr>
          <p:nvPr/>
        </p:nvSpPr>
        <p:spPr>
          <a:xfrm xmlns:a="http://schemas.openxmlformats.org/drawingml/2006/main">
            <a:off x="609600" y="457200"/>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D39"/>
                </a:solidFill>
              </a:defRPr>
            </a:defPPr>
            <a:lvl1pPr>
              <a:defRPr sz="3600" b="1">
                <a:solidFill>
                  <a:srgbClr val="173D39"/>
                </a:solidFill>
              </a:defRPr>
            </a:lvl1pPr>
            <a:lvl2pPr>
              <a:defRPr sz="3600" b="1">
                <a:solidFill>
                  <a:srgbClr val="173D39"/>
                </a:solidFill>
              </a:defRPr>
            </a:lvl2pPr>
            <a:lvl3pPr>
              <a:defRPr sz="3600" b="1">
                <a:solidFill>
                  <a:srgbClr val="173D39"/>
                </a:solidFill>
              </a:defRPr>
            </a:lvl3pPr>
            <a:lvl4pPr>
              <a:defRPr sz="3600" b="1">
                <a:solidFill>
                  <a:srgbClr val="173D39"/>
                </a:solidFill>
              </a:defRPr>
            </a:lvl4pPr>
            <a:lvl5pPr>
              <a:defRPr sz="3600" b="1">
                <a:solidFill>
                  <a:srgbClr val="173D39"/>
                </a:solidFill>
              </a:defRPr>
            </a:lvl5pPr>
            <a:lvl6pPr>
              <a:defRPr sz="3600" b="1">
                <a:solidFill>
                  <a:srgbClr val="173D39"/>
                </a:solidFill>
              </a:defRPr>
            </a:lvl6pPr>
            <a:lvl7pPr>
              <a:defRPr sz="3600" b="1">
                <a:solidFill>
                  <a:srgbClr val="173D39"/>
                </a:solidFill>
              </a:defRPr>
            </a:lvl7pPr>
            <a:lvl8pPr>
              <a:defRPr sz="3600" b="1">
                <a:solidFill>
                  <a:srgbClr val="173D39"/>
                </a:solidFill>
              </a:defRPr>
            </a:lvl8pPr>
            <a:lvl9pPr>
              <a:defRPr sz="3600" b="1">
                <a:solidFill>
                  <a:srgbClr val="173D39"/>
                </a:solidFill>
              </a:defRPr>
            </a:lvl9pPr>
          </a:lstStyle>
          <a:p xmlns:a="http://schemas.openxmlformats.org/drawingml/2006/main">
            <a:pPr>
              <a:defRPr sz="3600" b="1">
                <a:solidFill>
                  <a:srgbClr val="173D39"/>
                </a:solidFill>
              </a:defRPr>
            </a:pPr>
            <a:r>
              <a:rPr sz="3600" b="1">
                <a:solidFill>
                  <a:srgbClr val="173D39"/>
                </a:solidFill>
              </a:rPr>
              <a:t>A restoration range becomes a preparation plan</a:t>
            </a:r>
          </a:p>
        </p:txBody>
      </p:sp>
      <p:sp>
        <p:nvSpPr>
          <p:cNvPr id="3" name="">
            <a:extLst xmlns:a="http://schemas.openxmlformats.org/drawingml/2006/main">
              <a:ext uri="{FF2B5EF4-FFF2-40B4-BE49-F238E27FC236}">
                <a16:creationId xmlns:a16="http://schemas.microsoft.com/office/drawing/2014/main" id="{FDDDBD0A-D021-458D-A1BE-4BC72BF8F6AA}"/>
              </a:ext>
            </a:extLst>
          </p:cNvPr>
          <p:cNvSpPr>
            <a:spLocks xmlns:a="http://schemas.openxmlformats.org/drawingml/2006/main" noGrp="1"/>
          </p:cNvSpPr>
          <p:nvPr/>
        </p:nvSpPr>
        <p:spPr>
          <a:xfrm xmlns:a="http://schemas.openxmlformats.org/drawingml/2006/main">
            <a:off x="11087100" y="62484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A"/>
                </a:solidFill>
              </a:defRPr>
            </a:defPPr>
            <a:lvl1pPr>
              <a:defRPr sz="1350" b="0">
                <a:solidFill>
                  <a:srgbClr val="58706A"/>
                </a:solidFill>
              </a:defRPr>
            </a:lvl1pPr>
            <a:lvl2pPr>
              <a:defRPr sz="1350" b="0">
                <a:solidFill>
                  <a:srgbClr val="58706A"/>
                </a:solidFill>
              </a:defRPr>
            </a:lvl2pPr>
            <a:lvl3pPr>
              <a:defRPr sz="1350" b="0">
                <a:solidFill>
                  <a:srgbClr val="58706A"/>
                </a:solidFill>
              </a:defRPr>
            </a:lvl3pPr>
            <a:lvl4pPr>
              <a:defRPr sz="1350" b="0">
                <a:solidFill>
                  <a:srgbClr val="58706A"/>
                </a:solidFill>
              </a:defRPr>
            </a:lvl4pPr>
            <a:lvl5pPr>
              <a:defRPr sz="1350" b="0">
                <a:solidFill>
                  <a:srgbClr val="58706A"/>
                </a:solidFill>
              </a:defRPr>
            </a:lvl5pPr>
            <a:lvl6pPr>
              <a:defRPr sz="1350" b="0">
                <a:solidFill>
                  <a:srgbClr val="58706A"/>
                </a:solidFill>
              </a:defRPr>
            </a:lvl6pPr>
            <a:lvl7pPr>
              <a:defRPr sz="1350" b="0">
                <a:solidFill>
                  <a:srgbClr val="58706A"/>
                </a:solidFill>
              </a:defRPr>
            </a:lvl7pPr>
            <a:lvl8pPr>
              <a:defRPr sz="1350" b="0">
                <a:solidFill>
                  <a:srgbClr val="58706A"/>
                </a:solidFill>
              </a:defRPr>
            </a:lvl8pPr>
            <a:lvl9pPr>
              <a:defRPr sz="1350" b="0">
                <a:solidFill>
                  <a:srgbClr val="58706A"/>
                </a:solidFill>
              </a:defRPr>
            </a:lvl9pPr>
          </a:lstStyle>
          <a:p xmlns:a="http://schemas.openxmlformats.org/drawingml/2006/main">
            <a:pPr>
              <a:defRPr sz="1350" b="0">
                <a:solidFill>
                  <a:srgbClr val="58706A"/>
                </a:solidFill>
              </a:defRPr>
            </a:pPr>
            <a:r>
              <a:rPr sz="1350" b="0">
                <a:solidFill>
                  <a:srgbClr val="58706A"/>
                </a:solidFill>
              </a:rPr>
              <a:t>04</a:t>
            </a:r>
          </a:p>
        </p:txBody>
      </p:sp>
      <p:sp>
        <p:nvSpPr>
          <p:cNvPr id="4" name="">
            <a:extLst xmlns:a="http://schemas.openxmlformats.org/drawingml/2006/main">
              <a:ext uri="{FF2B5EF4-FFF2-40B4-BE49-F238E27FC236}">
                <a16:creationId xmlns:a16="http://schemas.microsoft.com/office/drawing/2014/main" id="{9659FBB5-766C-4CE9-92B4-DE873850855A}"/>
              </a:ext>
            </a:extLst>
          </p:cNvPr>
          <p:cNvSpPr>
            <a:spLocks xmlns:a="http://schemas.openxmlformats.org/drawingml/2006/main" noGrp="1"/>
          </p:cNvSpPr>
          <p:nvPr/>
        </p:nvSpPr>
        <p:spPr>
          <a:xfrm xmlns:a="http://schemas.openxmlformats.org/drawingml/2006/main">
            <a:off x="628650" y="172402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650" b="1">
                <a:solidFill>
                  <a:srgbClr val="B95835"/>
                </a:solidFill>
              </a:defRPr>
            </a:defPPr>
            <a:lvl1pPr>
              <a:defRPr sz="7650" b="1">
                <a:solidFill>
                  <a:srgbClr val="B95835"/>
                </a:solidFill>
              </a:defRPr>
            </a:lvl1pPr>
            <a:lvl2pPr>
              <a:defRPr sz="7650" b="1">
                <a:solidFill>
                  <a:srgbClr val="B95835"/>
                </a:solidFill>
              </a:defRPr>
            </a:lvl2pPr>
            <a:lvl3pPr>
              <a:defRPr sz="7650" b="1">
                <a:solidFill>
                  <a:srgbClr val="B95835"/>
                </a:solidFill>
              </a:defRPr>
            </a:lvl3pPr>
            <a:lvl4pPr>
              <a:defRPr sz="7650" b="1">
                <a:solidFill>
                  <a:srgbClr val="B95835"/>
                </a:solidFill>
              </a:defRPr>
            </a:lvl4pPr>
            <a:lvl5pPr>
              <a:defRPr sz="7650" b="1">
                <a:solidFill>
                  <a:srgbClr val="B95835"/>
                </a:solidFill>
              </a:defRPr>
            </a:lvl5pPr>
            <a:lvl6pPr>
              <a:defRPr sz="7650" b="1">
                <a:solidFill>
                  <a:srgbClr val="B95835"/>
                </a:solidFill>
              </a:defRPr>
            </a:lvl6pPr>
            <a:lvl7pPr>
              <a:defRPr sz="7650" b="1">
                <a:solidFill>
                  <a:srgbClr val="B95835"/>
                </a:solidFill>
              </a:defRPr>
            </a:lvl7pPr>
            <a:lvl8pPr>
              <a:defRPr sz="7650" b="1">
                <a:solidFill>
                  <a:srgbClr val="B95835"/>
                </a:solidFill>
              </a:defRPr>
            </a:lvl8pPr>
            <a:lvl9pPr>
              <a:defRPr sz="7650" b="1">
                <a:solidFill>
                  <a:srgbClr val="B95835"/>
                </a:solidFill>
              </a:defRPr>
            </a:lvl9pPr>
          </a:lstStyle>
          <a:p xmlns:a="http://schemas.openxmlformats.org/drawingml/2006/main">
            <a:pPr>
              <a:defRPr sz="7650" b="1">
                <a:solidFill>
                  <a:srgbClr val="B95835"/>
                </a:solidFill>
              </a:defRPr>
            </a:pPr>
            <a:r>
              <a:rPr sz="7650" b="1">
                <a:solidFill>
                  <a:srgbClr val="B95835"/>
                </a:solidFill>
              </a:rPr>
              <a:t>80%</a:t>
            </a:r>
          </a:p>
        </p:txBody>
      </p:sp>
      <p:sp>
        <p:nvSpPr>
          <p:cNvPr id="5" name="">
            <a:extLst xmlns:a="http://schemas.openxmlformats.org/drawingml/2006/main">
              <a:ext uri="{FF2B5EF4-FFF2-40B4-BE49-F238E27FC236}">
                <a16:creationId xmlns:a16="http://schemas.microsoft.com/office/drawing/2014/main" id="{062FF8D9-A583-455E-8388-E67072CEA0BD}"/>
              </a:ext>
            </a:extLst>
          </p:cNvPr>
          <p:cNvSpPr>
            <a:spLocks xmlns:a="http://schemas.openxmlformats.org/drawingml/2006/main" noGrp="1"/>
          </p:cNvSpPr>
          <p:nvPr/>
        </p:nvSpPr>
        <p:spPr>
          <a:xfrm xmlns:a="http://schemas.openxmlformats.org/drawingml/2006/main">
            <a:off x="685800" y="2990850"/>
            <a:ext cx="4333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8706A"/>
                </a:solidFill>
              </a:defRPr>
            </a:defPPr>
            <a:lvl1pPr>
              <a:defRPr sz="1950" b="0">
                <a:solidFill>
                  <a:srgbClr val="58706A"/>
                </a:solidFill>
              </a:defRPr>
            </a:lvl1pPr>
            <a:lvl2pPr>
              <a:defRPr sz="1950" b="0">
                <a:solidFill>
                  <a:srgbClr val="58706A"/>
                </a:solidFill>
              </a:defRPr>
            </a:lvl2pPr>
            <a:lvl3pPr>
              <a:defRPr sz="1950" b="0">
                <a:solidFill>
                  <a:srgbClr val="58706A"/>
                </a:solidFill>
              </a:defRPr>
            </a:lvl3pPr>
            <a:lvl4pPr>
              <a:defRPr sz="1950" b="0">
                <a:solidFill>
                  <a:srgbClr val="58706A"/>
                </a:solidFill>
              </a:defRPr>
            </a:lvl4pPr>
            <a:lvl5pPr>
              <a:defRPr sz="1950" b="0">
                <a:solidFill>
                  <a:srgbClr val="58706A"/>
                </a:solidFill>
              </a:defRPr>
            </a:lvl5pPr>
            <a:lvl6pPr>
              <a:defRPr sz="1950" b="0">
                <a:solidFill>
                  <a:srgbClr val="58706A"/>
                </a:solidFill>
              </a:defRPr>
            </a:lvl6pPr>
            <a:lvl7pPr>
              <a:defRPr sz="1950" b="0">
                <a:solidFill>
                  <a:srgbClr val="58706A"/>
                </a:solidFill>
              </a:defRPr>
            </a:lvl7pPr>
            <a:lvl8pPr>
              <a:defRPr sz="1950" b="0">
                <a:solidFill>
                  <a:srgbClr val="58706A"/>
                </a:solidFill>
              </a:defRPr>
            </a:lvl8pPr>
            <a:lvl9pPr>
              <a:defRPr sz="1950" b="0">
                <a:solidFill>
                  <a:srgbClr val="58706A"/>
                </a:solidFill>
              </a:defRPr>
            </a:lvl9pPr>
          </a:lstStyle>
          <a:p xmlns:a="http://schemas.openxmlformats.org/drawingml/2006/main">
            <a:pPr>
              <a:defRPr sz="1950" b="0">
                <a:solidFill>
                  <a:srgbClr val="58706A"/>
                </a:solidFill>
              </a:defRPr>
            </a:pPr>
            <a:r>
              <a:rPr sz="1950" b="0">
                <a:solidFill>
                  <a:srgbClr val="58706A"/>
                </a:solidFill>
              </a:rPr>
              <a:t>outage chance in this demo scenario</a:t>
            </a:r>
          </a:p>
        </p:txBody>
      </p:sp>
      <p:sp>
        <p:nvSpPr>
          <p:cNvPr id="6" name="">
            <a:extLst xmlns:a="http://schemas.openxmlformats.org/drawingml/2006/main">
              <a:ext uri="{FF2B5EF4-FFF2-40B4-BE49-F238E27FC236}">
                <a16:creationId xmlns:a16="http://schemas.microsoft.com/office/drawing/2014/main" id="{D8AD7785-2C8A-4952-AF2C-BB53BF5D9A3E}"/>
              </a:ext>
            </a:extLst>
          </p:cNvPr>
          <p:cNvSpPr>
            <a:spLocks xmlns:a="http://schemas.openxmlformats.org/drawingml/2006/main" noGrp="1"/>
          </p:cNvSpPr>
          <p:nvPr/>
        </p:nvSpPr>
        <p:spPr>
          <a:xfrm xmlns:a="http://schemas.openxmlformats.org/drawingml/2006/main">
            <a:off x="6057900" y="1790700"/>
            <a:ext cx="5524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146E61"/>
                </a:solidFill>
              </a:defRPr>
            </a:defPPr>
            <a:lvl1pPr>
              <a:defRPr sz="5250" b="1">
                <a:solidFill>
                  <a:srgbClr val="146E61"/>
                </a:solidFill>
              </a:defRPr>
            </a:lvl1pPr>
            <a:lvl2pPr>
              <a:defRPr sz="5250" b="1">
                <a:solidFill>
                  <a:srgbClr val="146E61"/>
                </a:solidFill>
              </a:defRPr>
            </a:lvl2pPr>
            <a:lvl3pPr>
              <a:defRPr sz="5250" b="1">
                <a:solidFill>
                  <a:srgbClr val="146E61"/>
                </a:solidFill>
              </a:defRPr>
            </a:lvl3pPr>
            <a:lvl4pPr>
              <a:defRPr sz="5250" b="1">
                <a:solidFill>
                  <a:srgbClr val="146E61"/>
                </a:solidFill>
              </a:defRPr>
            </a:lvl4pPr>
            <a:lvl5pPr>
              <a:defRPr sz="5250" b="1">
                <a:solidFill>
                  <a:srgbClr val="146E61"/>
                </a:solidFill>
              </a:defRPr>
            </a:lvl5pPr>
            <a:lvl6pPr>
              <a:defRPr sz="5250" b="1">
                <a:solidFill>
                  <a:srgbClr val="146E61"/>
                </a:solidFill>
              </a:defRPr>
            </a:lvl6pPr>
            <a:lvl7pPr>
              <a:defRPr sz="5250" b="1">
                <a:solidFill>
                  <a:srgbClr val="146E61"/>
                </a:solidFill>
              </a:defRPr>
            </a:lvl7pPr>
            <a:lvl8pPr>
              <a:defRPr sz="5250" b="1">
                <a:solidFill>
                  <a:srgbClr val="146E61"/>
                </a:solidFill>
              </a:defRPr>
            </a:lvl8pPr>
            <a:lvl9pPr>
              <a:defRPr sz="5250" b="1">
                <a:solidFill>
                  <a:srgbClr val="146E61"/>
                </a:solidFill>
              </a:defRPr>
            </a:lvl9pPr>
          </a:lstStyle>
          <a:p xmlns:a="http://schemas.openxmlformats.org/drawingml/2006/main">
            <a:pPr>
              <a:defRPr sz="5250" b="1">
                <a:solidFill>
                  <a:srgbClr val="146E61"/>
                </a:solidFill>
              </a:defRPr>
            </a:pPr>
            <a:r>
              <a:rPr sz="5250" b="1">
                <a:solidFill>
                  <a:srgbClr val="146E61"/>
                </a:solidFill>
              </a:rPr>
              <a:t>10–44 hours</a:t>
            </a:r>
          </a:p>
        </p:txBody>
      </p:sp>
      <p:sp>
        <p:nvSpPr>
          <p:cNvPr id="7" name="">
            <a:extLst xmlns:a="http://schemas.openxmlformats.org/drawingml/2006/main">
              <a:ext uri="{FF2B5EF4-FFF2-40B4-BE49-F238E27FC236}">
                <a16:creationId xmlns:a16="http://schemas.microsoft.com/office/drawing/2014/main" id="{4A06B4B3-FA5E-4123-8D86-29CFB8BC9DDE}"/>
              </a:ext>
            </a:extLst>
          </p:cNvPr>
          <p:cNvSpPr>
            <a:spLocks xmlns:a="http://schemas.openxmlformats.org/drawingml/2006/main" noGrp="1"/>
          </p:cNvSpPr>
          <p:nvPr/>
        </p:nvSpPr>
        <p:spPr>
          <a:xfrm xmlns:a="http://schemas.openxmlformats.org/drawingml/2006/main">
            <a:off x="6134100" y="29908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8706A"/>
                </a:solidFill>
              </a:defRPr>
            </a:defPPr>
            <a:lvl1pPr>
              <a:defRPr sz="1950" b="0">
                <a:solidFill>
                  <a:srgbClr val="58706A"/>
                </a:solidFill>
              </a:defRPr>
            </a:lvl1pPr>
            <a:lvl2pPr>
              <a:defRPr sz="1950" b="0">
                <a:solidFill>
                  <a:srgbClr val="58706A"/>
                </a:solidFill>
              </a:defRPr>
            </a:lvl2pPr>
            <a:lvl3pPr>
              <a:defRPr sz="1950" b="0">
                <a:solidFill>
                  <a:srgbClr val="58706A"/>
                </a:solidFill>
              </a:defRPr>
            </a:lvl3pPr>
            <a:lvl4pPr>
              <a:defRPr sz="1950" b="0">
                <a:solidFill>
                  <a:srgbClr val="58706A"/>
                </a:solidFill>
              </a:defRPr>
            </a:lvl4pPr>
            <a:lvl5pPr>
              <a:defRPr sz="1950" b="0">
                <a:solidFill>
                  <a:srgbClr val="58706A"/>
                </a:solidFill>
              </a:defRPr>
            </a:lvl5pPr>
            <a:lvl6pPr>
              <a:defRPr sz="1950" b="0">
                <a:solidFill>
                  <a:srgbClr val="58706A"/>
                </a:solidFill>
              </a:defRPr>
            </a:lvl6pPr>
            <a:lvl7pPr>
              <a:defRPr sz="1950" b="0">
                <a:solidFill>
                  <a:srgbClr val="58706A"/>
                </a:solidFill>
              </a:defRPr>
            </a:lvl7pPr>
            <a:lvl8pPr>
              <a:defRPr sz="1950" b="0">
                <a:solidFill>
                  <a:srgbClr val="58706A"/>
                </a:solidFill>
              </a:defRPr>
            </a:lvl8pPr>
            <a:lvl9pPr>
              <a:defRPr sz="1950" b="0">
                <a:solidFill>
                  <a:srgbClr val="58706A"/>
                </a:solidFill>
              </a:defRPr>
            </a:lvl9pPr>
          </a:lstStyle>
          <a:p xmlns:a="http://schemas.openxmlformats.org/drawingml/2006/main">
            <a:pPr>
              <a:defRPr sz="1950" b="0">
                <a:solidFill>
                  <a:srgbClr val="58706A"/>
                </a:solidFill>
              </a:defRPr>
            </a:pPr>
            <a:r>
              <a:rPr sz="1950" b="0">
                <a:solidFill>
                  <a:srgbClr val="58706A"/>
                </a:solidFill>
              </a:rPr>
              <a:t>likely restoration range if power goes out</a:t>
            </a:r>
          </a:p>
        </p:txBody>
      </p:sp>
      <p:sp>
        <p:nvSpPr>
          <p:cNvPr id="8" name="">
            <a:extLst xmlns:a="http://schemas.openxmlformats.org/drawingml/2006/main">
              <a:ext uri="{FF2B5EF4-FFF2-40B4-BE49-F238E27FC236}">
                <a16:creationId xmlns:a16="http://schemas.microsoft.com/office/drawing/2014/main" id="{49395803-923D-4E5D-8685-9F5997A7C1FE}"/>
              </a:ext>
            </a:extLst>
          </p:cNvPr>
          <p:cNvSpPr>
            <a:spLocks xmlns:a="http://schemas.openxmlformats.org/drawingml/2006/main" noGrp="1"/>
          </p:cNvSpPr>
          <p:nvPr/>
        </p:nvSpPr>
        <p:spPr>
          <a:xfrm xmlns:a="http://schemas.openxmlformats.org/drawingml/2006/main">
            <a:off x="666750" y="41338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D39"/>
                </a:solidFill>
              </a:defRPr>
            </a:defPPr>
            <a:lvl1pPr>
              <a:defRPr sz="2325" b="1">
                <a:solidFill>
                  <a:srgbClr val="173D39"/>
                </a:solidFill>
              </a:defRPr>
            </a:lvl1pPr>
            <a:lvl2pPr>
              <a:defRPr sz="2325" b="1">
                <a:solidFill>
                  <a:srgbClr val="173D39"/>
                </a:solidFill>
              </a:defRPr>
            </a:lvl2pPr>
            <a:lvl3pPr>
              <a:defRPr sz="2325" b="1">
                <a:solidFill>
                  <a:srgbClr val="173D39"/>
                </a:solidFill>
              </a:defRPr>
            </a:lvl3pPr>
            <a:lvl4pPr>
              <a:defRPr sz="2325" b="1">
                <a:solidFill>
                  <a:srgbClr val="173D39"/>
                </a:solidFill>
              </a:defRPr>
            </a:lvl4pPr>
            <a:lvl5pPr>
              <a:defRPr sz="2325" b="1">
                <a:solidFill>
                  <a:srgbClr val="173D39"/>
                </a:solidFill>
              </a:defRPr>
            </a:lvl5pPr>
            <a:lvl6pPr>
              <a:defRPr sz="2325" b="1">
                <a:solidFill>
                  <a:srgbClr val="173D39"/>
                </a:solidFill>
              </a:defRPr>
            </a:lvl6pPr>
            <a:lvl7pPr>
              <a:defRPr sz="2325" b="1">
                <a:solidFill>
                  <a:srgbClr val="173D39"/>
                </a:solidFill>
              </a:defRPr>
            </a:lvl7pPr>
            <a:lvl8pPr>
              <a:defRPr sz="2325" b="1">
                <a:solidFill>
                  <a:srgbClr val="173D39"/>
                </a:solidFill>
              </a:defRPr>
            </a:lvl8pPr>
            <a:lvl9pPr>
              <a:defRPr sz="2325" b="1">
                <a:solidFill>
                  <a:srgbClr val="173D39"/>
                </a:solidFill>
              </a:defRPr>
            </a:lvl9pPr>
          </a:lstStyle>
          <a:p xmlns:a="http://schemas.openxmlformats.org/drawingml/2006/main">
            <a:pPr>
              <a:defRPr sz="2325" b="1">
                <a:solidFill>
                  <a:srgbClr val="173D39"/>
                </a:solidFill>
              </a:defRPr>
            </a:pPr>
            <a:r>
              <a:rPr sz="2325" b="1">
                <a:solidFill>
                  <a:srgbClr val="173D39"/>
                </a:solidFill>
              </a:rPr>
              <a:t>Change crews or access conditions to recalculate the estimate.</a:t>
            </a:r>
          </a:p>
        </p:txBody>
      </p:sp>
      <p:sp>
        <p:nvSpPr>
          <p:cNvPr id="9" name="">
            <a:extLst xmlns:a="http://schemas.openxmlformats.org/drawingml/2006/main">
              <a:ext uri="{FF2B5EF4-FFF2-40B4-BE49-F238E27FC236}">
                <a16:creationId xmlns:a16="http://schemas.microsoft.com/office/drawing/2014/main" id="{1FE6C52F-846B-4AA9-A44A-B3F34194BC94}"/>
              </a:ext>
            </a:extLst>
          </p:cNvPr>
          <p:cNvSpPr>
            <a:spLocks xmlns:a="http://schemas.openxmlformats.org/drawingml/2006/main" noGrp="1"/>
          </p:cNvSpPr>
          <p:nvPr/>
        </p:nvSpPr>
        <p:spPr>
          <a:xfrm xmlns:a="http://schemas.openxmlformats.org/drawingml/2006/main">
            <a:off x="666750" y="5124450"/>
            <a:ext cx="10382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706A"/>
                </a:solidFill>
              </a:defRPr>
            </a:defPPr>
            <a:lvl1pPr>
              <a:defRPr sz="2100" b="0">
                <a:solidFill>
                  <a:srgbClr val="58706A"/>
                </a:solidFill>
              </a:defRPr>
            </a:lvl1pPr>
            <a:lvl2pPr>
              <a:defRPr sz="2100" b="0">
                <a:solidFill>
                  <a:srgbClr val="58706A"/>
                </a:solidFill>
              </a:defRPr>
            </a:lvl2pPr>
            <a:lvl3pPr>
              <a:defRPr sz="2100" b="0">
                <a:solidFill>
                  <a:srgbClr val="58706A"/>
                </a:solidFill>
              </a:defRPr>
            </a:lvl3pPr>
            <a:lvl4pPr>
              <a:defRPr sz="2100" b="0">
                <a:solidFill>
                  <a:srgbClr val="58706A"/>
                </a:solidFill>
              </a:defRPr>
            </a:lvl4pPr>
            <a:lvl5pPr>
              <a:defRPr sz="2100" b="0">
                <a:solidFill>
                  <a:srgbClr val="58706A"/>
                </a:solidFill>
              </a:defRPr>
            </a:lvl5pPr>
            <a:lvl6pPr>
              <a:defRPr sz="2100" b="0">
                <a:solidFill>
                  <a:srgbClr val="58706A"/>
                </a:solidFill>
              </a:defRPr>
            </a:lvl6pPr>
            <a:lvl7pPr>
              <a:defRPr sz="2100" b="0">
                <a:solidFill>
                  <a:srgbClr val="58706A"/>
                </a:solidFill>
              </a:defRPr>
            </a:lvl7pPr>
            <a:lvl8pPr>
              <a:defRPr sz="2100" b="0">
                <a:solidFill>
                  <a:srgbClr val="58706A"/>
                </a:solidFill>
              </a:defRPr>
            </a:lvl8pPr>
            <a:lvl9pPr>
              <a:defRPr sz="2100" b="0">
                <a:solidFill>
                  <a:srgbClr val="58706A"/>
                </a:solidFill>
              </a:defRPr>
            </a:lvl9pPr>
          </a:lstStyle>
          <a:p xmlns:a="http://schemas.openxmlformats.org/drawingml/2006/main">
            <a:pPr>
              <a:defRPr sz="2100" b="0">
                <a:solidFill>
                  <a:srgbClr val="58706A"/>
                </a:solidFill>
              </a:defRPr>
            </a:pPr>
            <a:r>
              <a:rPr sz="2100" b="0">
                <a:solidFill>
                  <a:srgbClr val="58706A"/>
                </a:solidFill>
              </a:rPr>
              <a:t>Compare the duration with household needs. Review preparation steps and follow the simulated alert journey.</a:t>
            </a:r>
          </a:p>
        </p:txBody>
      </p:sp>
      <p:sp>
        <p:nvSpPr>
          <p:cNvPr id="10" name="">
            <a:extLst xmlns:a="http://schemas.openxmlformats.org/drawingml/2006/main">
              <a:ext uri="{FF2B5EF4-FFF2-40B4-BE49-F238E27FC236}">
                <a16:creationId xmlns:a16="http://schemas.microsoft.com/office/drawing/2014/main" id="{E5ECB854-1DA7-4A6C-AB1F-C593AFEE5057}"/>
              </a:ext>
            </a:extLst>
          </p:cNvPr>
          <p:cNvSpPr>
            <a:spLocks xmlns:a="http://schemas.openxmlformats.org/drawingml/2006/main" noGrp="1"/>
          </p:cNvSpPr>
          <p:nvPr/>
        </p:nvSpPr>
        <p:spPr>
          <a:xfrm xmlns:a="http://schemas.openxmlformats.org/drawingml/2006/main">
            <a:off x="666750" y="6200775"/>
            <a:ext cx="990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a:solidFill>
                  <a:srgbClr val="58706A"/>
                </a:solidFill>
              </a:defRPr>
            </a:defPPr>
            <a:lvl1pPr>
              <a:defRPr sz="1500">
                <a:solidFill>
                  <a:srgbClr val="58706A"/>
                </a:solidFill>
              </a:defRPr>
            </a:lvl1pPr>
            <a:lvl2pPr>
              <a:defRPr sz="1500">
                <a:solidFill>
                  <a:srgbClr val="58706A"/>
                </a:solidFill>
              </a:defRPr>
            </a:lvl2pPr>
            <a:lvl3pPr>
              <a:defRPr sz="1500">
                <a:solidFill>
                  <a:srgbClr val="58706A"/>
                </a:solidFill>
              </a:defRPr>
            </a:lvl3pPr>
            <a:lvl4pPr>
              <a:defRPr sz="1500">
                <a:solidFill>
                  <a:srgbClr val="58706A"/>
                </a:solidFill>
              </a:defRPr>
            </a:lvl4pPr>
            <a:lvl5pPr>
              <a:defRPr sz="1500">
                <a:solidFill>
                  <a:srgbClr val="58706A"/>
                </a:solidFill>
              </a:defRPr>
            </a:lvl5pPr>
            <a:lvl6pPr>
              <a:defRPr sz="1500">
                <a:solidFill>
                  <a:srgbClr val="58706A"/>
                </a:solidFill>
              </a:defRPr>
            </a:lvl6pPr>
            <a:lvl7pPr>
              <a:defRPr sz="1500">
                <a:solidFill>
                  <a:srgbClr val="58706A"/>
                </a:solidFill>
              </a:defRPr>
            </a:lvl7pPr>
            <a:lvl8pPr>
              <a:defRPr sz="1500">
                <a:solidFill>
                  <a:srgbClr val="58706A"/>
                </a:solidFill>
              </a:defRPr>
            </a:lvl8pPr>
            <a:lvl9pPr>
              <a:defRPr sz="1500">
                <a:solidFill>
                  <a:srgbClr val="58706A"/>
                </a:solidFill>
              </a:defRPr>
            </a:lvl9pPr>
          </a:lstStyle>
          <a:p xmlns:a="http://schemas.openxmlformats.org/drawingml/2006/main">
            <a:pPr>
              <a:defRPr sz="1500">
                <a:solidFill>
                  <a:srgbClr val="58706A"/>
                </a:solidFill>
              </a:defRPr>
            </a:pPr>
            <a:r>
              <a:rPr sz="1500">
                <a:solidFill>
                  <a:srgbClr val="58706A"/>
                </a:solidFill>
              </a:rPr>
              <a:t>Model estimates for one demo home in a historical storm scenario</a:t>
            </a:r>
          </a:p>
        </p:txBody>
      </p:sp>
    </p:spTree>
    <p:extLst>
      <p:ext uri="{BB962C8B-B14F-4D97-AF65-F5344CB8AC3E}">
        <p14:creationId xmlns:p14="http://schemas.microsoft.com/office/powerpoint/2010/main" val="1958352583"/>
      </p:ext>
    </p:extLst>
  </p:cSld>
</p:sld>
</file>

<file path=ppt/slides/slide5.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5F45E2-09F3-41F3-8B6F-2D1F90A4DA36}"/>
              </a:ext>
            </a:extLst>
          </p:cNvPr>
          <p:cNvSpPr>
            <a:spLocks xmlns:a="http://schemas.openxmlformats.org/drawingml/2006/main" noGrp="1"/>
          </p:cNvSpPr>
          <p:nvPr/>
        </p:nvSpPr>
        <p:spPr>
          <a:xfrm xmlns:a="http://schemas.openxmlformats.org/drawingml/2006/main">
            <a:off x="609600" y="457200"/>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D39"/>
                </a:solidFill>
              </a:defRPr>
            </a:defPPr>
            <a:lvl1pPr>
              <a:defRPr sz="3600" b="1">
                <a:solidFill>
                  <a:srgbClr val="173D39"/>
                </a:solidFill>
              </a:defRPr>
            </a:lvl1pPr>
            <a:lvl2pPr>
              <a:defRPr sz="3600" b="1">
                <a:solidFill>
                  <a:srgbClr val="173D39"/>
                </a:solidFill>
              </a:defRPr>
            </a:lvl2pPr>
            <a:lvl3pPr>
              <a:defRPr sz="3600" b="1">
                <a:solidFill>
                  <a:srgbClr val="173D39"/>
                </a:solidFill>
              </a:defRPr>
            </a:lvl3pPr>
            <a:lvl4pPr>
              <a:defRPr sz="3600" b="1">
                <a:solidFill>
                  <a:srgbClr val="173D39"/>
                </a:solidFill>
              </a:defRPr>
            </a:lvl4pPr>
            <a:lvl5pPr>
              <a:defRPr sz="3600" b="1">
                <a:solidFill>
                  <a:srgbClr val="173D39"/>
                </a:solidFill>
              </a:defRPr>
            </a:lvl5pPr>
            <a:lvl6pPr>
              <a:defRPr sz="3600" b="1">
                <a:solidFill>
                  <a:srgbClr val="173D39"/>
                </a:solidFill>
              </a:defRPr>
            </a:lvl6pPr>
            <a:lvl7pPr>
              <a:defRPr sz="3600" b="1">
                <a:solidFill>
                  <a:srgbClr val="173D39"/>
                </a:solidFill>
              </a:defRPr>
            </a:lvl7pPr>
            <a:lvl8pPr>
              <a:defRPr sz="3600" b="1">
                <a:solidFill>
                  <a:srgbClr val="173D39"/>
                </a:solidFill>
              </a:defRPr>
            </a:lvl8pPr>
            <a:lvl9pPr>
              <a:defRPr sz="3600" b="1">
                <a:solidFill>
                  <a:srgbClr val="173D39"/>
                </a:solidFill>
              </a:defRPr>
            </a:lvl9pPr>
          </a:lstStyle>
          <a:p xmlns:a="http://schemas.openxmlformats.org/drawingml/2006/main">
            <a:pPr>
              <a:defRPr sz="3600" b="1">
                <a:solidFill>
                  <a:srgbClr val="173D39"/>
                </a:solidFill>
              </a:defRPr>
            </a:pPr>
            <a:r>
              <a:rPr sz="3600" b="1">
                <a:solidFill>
                  <a:srgbClr val="173D39"/>
                </a:solidFill>
              </a:rPr>
              <a:t>The data changed our approach</a:t>
            </a:r>
          </a:p>
        </p:txBody>
      </p:sp>
      <p:sp>
        <p:nvSpPr>
          <p:cNvPr id="3" name="">
            <a:extLst xmlns:a="http://schemas.openxmlformats.org/drawingml/2006/main">
              <a:ext uri="{FF2B5EF4-FFF2-40B4-BE49-F238E27FC236}">
                <a16:creationId xmlns:a16="http://schemas.microsoft.com/office/drawing/2014/main" id="{2C9F15B3-CCAC-4BDF-9194-A40AA102C8D4}"/>
              </a:ext>
            </a:extLst>
          </p:cNvPr>
          <p:cNvSpPr>
            <a:spLocks xmlns:a="http://schemas.openxmlformats.org/drawingml/2006/main" noGrp="1"/>
          </p:cNvSpPr>
          <p:nvPr/>
        </p:nvSpPr>
        <p:spPr>
          <a:xfrm xmlns:a="http://schemas.openxmlformats.org/drawingml/2006/main">
            <a:off x="11087100" y="62484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A"/>
                </a:solidFill>
              </a:defRPr>
            </a:defPPr>
            <a:lvl1pPr>
              <a:defRPr sz="1350" b="0">
                <a:solidFill>
                  <a:srgbClr val="58706A"/>
                </a:solidFill>
              </a:defRPr>
            </a:lvl1pPr>
            <a:lvl2pPr>
              <a:defRPr sz="1350" b="0">
                <a:solidFill>
                  <a:srgbClr val="58706A"/>
                </a:solidFill>
              </a:defRPr>
            </a:lvl2pPr>
            <a:lvl3pPr>
              <a:defRPr sz="1350" b="0">
                <a:solidFill>
                  <a:srgbClr val="58706A"/>
                </a:solidFill>
              </a:defRPr>
            </a:lvl3pPr>
            <a:lvl4pPr>
              <a:defRPr sz="1350" b="0">
                <a:solidFill>
                  <a:srgbClr val="58706A"/>
                </a:solidFill>
              </a:defRPr>
            </a:lvl4pPr>
            <a:lvl5pPr>
              <a:defRPr sz="1350" b="0">
                <a:solidFill>
                  <a:srgbClr val="58706A"/>
                </a:solidFill>
              </a:defRPr>
            </a:lvl5pPr>
            <a:lvl6pPr>
              <a:defRPr sz="1350" b="0">
                <a:solidFill>
                  <a:srgbClr val="58706A"/>
                </a:solidFill>
              </a:defRPr>
            </a:lvl6pPr>
            <a:lvl7pPr>
              <a:defRPr sz="1350" b="0">
                <a:solidFill>
                  <a:srgbClr val="58706A"/>
                </a:solidFill>
              </a:defRPr>
            </a:lvl7pPr>
            <a:lvl8pPr>
              <a:defRPr sz="1350" b="0">
                <a:solidFill>
                  <a:srgbClr val="58706A"/>
                </a:solidFill>
              </a:defRPr>
            </a:lvl8pPr>
            <a:lvl9pPr>
              <a:defRPr sz="1350" b="0">
                <a:solidFill>
                  <a:srgbClr val="58706A"/>
                </a:solidFill>
              </a:defRPr>
            </a:lvl9pPr>
          </a:lstStyle>
          <a:p xmlns:a="http://schemas.openxmlformats.org/drawingml/2006/main">
            <a:pPr>
              <a:defRPr sz="1350" b="0">
                <a:solidFill>
                  <a:srgbClr val="58706A"/>
                </a:solidFill>
              </a:defRPr>
            </a:pPr>
            <a:r>
              <a:rPr sz="1350" b="0">
                <a:solidFill>
                  <a:srgbClr val="58706A"/>
                </a:solidFill>
              </a:rPr>
              <a:t>05</a:t>
            </a:r>
          </a:p>
        </p:txBody>
      </p:sp>
      <p:sp>
        <p:nvSpPr>
          <p:cNvPr id="4" name="">
            <a:extLst xmlns:a="http://schemas.openxmlformats.org/drawingml/2006/main">
              <a:ext uri="{FF2B5EF4-FFF2-40B4-BE49-F238E27FC236}">
                <a16:creationId xmlns:a16="http://schemas.microsoft.com/office/drawing/2014/main" id="{A97AED8C-3BE9-4762-BAD4-C7A0756EF705}"/>
              </a:ext>
            </a:extLst>
          </p:cNvPr>
          <p:cNvSpPr>
            <a:spLocks xmlns:a="http://schemas.openxmlformats.org/drawingml/2006/main" noGrp="1"/>
          </p:cNvSpPr>
          <p:nvPr/>
        </p:nvSpPr>
        <p:spPr>
          <a:xfrm xmlns:a="http://schemas.openxmlformats.org/drawingml/2006/main">
            <a:off x="647700" y="18383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95835"/>
                </a:solidFill>
              </a:defRPr>
            </a:defPPr>
            <a:lvl1pPr>
              <a:defRPr sz="2175" b="1">
                <a:solidFill>
                  <a:srgbClr val="B95835"/>
                </a:solidFill>
              </a:defRPr>
            </a:lvl1pPr>
            <a:lvl2pPr>
              <a:defRPr sz="2175" b="1">
                <a:solidFill>
                  <a:srgbClr val="B95835"/>
                </a:solidFill>
              </a:defRPr>
            </a:lvl2pPr>
            <a:lvl3pPr>
              <a:defRPr sz="2175" b="1">
                <a:solidFill>
                  <a:srgbClr val="B95835"/>
                </a:solidFill>
              </a:defRPr>
            </a:lvl3pPr>
            <a:lvl4pPr>
              <a:defRPr sz="2175" b="1">
                <a:solidFill>
                  <a:srgbClr val="B95835"/>
                </a:solidFill>
              </a:defRPr>
            </a:lvl4pPr>
            <a:lvl5pPr>
              <a:defRPr sz="2175" b="1">
                <a:solidFill>
                  <a:srgbClr val="B95835"/>
                </a:solidFill>
              </a:defRPr>
            </a:lvl5pPr>
            <a:lvl6pPr>
              <a:defRPr sz="2175" b="1">
                <a:solidFill>
                  <a:srgbClr val="B95835"/>
                </a:solidFill>
              </a:defRPr>
            </a:lvl6pPr>
            <a:lvl7pPr>
              <a:defRPr sz="2175" b="1">
                <a:solidFill>
                  <a:srgbClr val="B95835"/>
                </a:solidFill>
              </a:defRPr>
            </a:lvl7pPr>
            <a:lvl8pPr>
              <a:defRPr sz="2175" b="1">
                <a:solidFill>
                  <a:srgbClr val="B95835"/>
                </a:solidFill>
              </a:defRPr>
            </a:lvl8pPr>
            <a:lvl9pPr>
              <a:defRPr sz="2175" b="1">
                <a:solidFill>
                  <a:srgbClr val="B95835"/>
                </a:solidFill>
              </a:defRPr>
            </a:lvl9pPr>
          </a:lstStyle>
          <a:p xmlns:a="http://schemas.openxmlformats.org/drawingml/2006/main">
            <a:pPr>
              <a:defRPr sz="2175" b="1">
                <a:solidFill>
                  <a:srgbClr val="B95835"/>
                </a:solidFill>
              </a:defRPr>
            </a:pPr>
            <a:r>
              <a:rPr sz="2175" b="1">
                <a:solidFill>
                  <a:srgbClr val="B95835"/>
                </a:solidFill>
              </a:rPr>
              <a:t>What failed</a:t>
            </a:r>
          </a:p>
        </p:txBody>
      </p:sp>
      <p:sp>
        <p:nvSpPr>
          <p:cNvPr id="5" name="">
            <a:extLst xmlns:a="http://schemas.openxmlformats.org/drawingml/2006/main">
              <a:ext uri="{FF2B5EF4-FFF2-40B4-BE49-F238E27FC236}">
                <a16:creationId xmlns:a16="http://schemas.microsoft.com/office/drawing/2014/main" id="{7EC7CF53-DB21-4E03-8617-DD4914BD985C}"/>
              </a:ext>
            </a:extLst>
          </p:cNvPr>
          <p:cNvSpPr>
            <a:spLocks xmlns:a="http://schemas.openxmlformats.org/drawingml/2006/main" noGrp="1"/>
          </p:cNvSpPr>
          <p:nvPr/>
        </p:nvSpPr>
        <p:spPr>
          <a:xfrm xmlns:a="http://schemas.openxmlformats.org/drawingml/2006/main">
            <a:off x="647700" y="2647950"/>
            <a:ext cx="48196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39"/>
                </a:solidFill>
              </a:defRPr>
            </a:defPPr>
            <a:lvl1pPr>
              <a:defRPr sz="2550" b="0">
                <a:solidFill>
                  <a:srgbClr val="173D39"/>
                </a:solidFill>
              </a:defRPr>
            </a:lvl1pPr>
            <a:lvl2pPr>
              <a:defRPr sz="2550" b="0">
                <a:solidFill>
                  <a:srgbClr val="173D39"/>
                </a:solidFill>
              </a:defRPr>
            </a:lvl2pPr>
            <a:lvl3pPr>
              <a:defRPr sz="2550" b="0">
                <a:solidFill>
                  <a:srgbClr val="173D39"/>
                </a:solidFill>
              </a:defRPr>
            </a:lvl3pPr>
            <a:lvl4pPr>
              <a:defRPr sz="2550" b="0">
                <a:solidFill>
                  <a:srgbClr val="173D39"/>
                </a:solidFill>
              </a:defRPr>
            </a:lvl4pPr>
            <a:lvl5pPr>
              <a:defRPr sz="2550" b="0">
                <a:solidFill>
                  <a:srgbClr val="173D39"/>
                </a:solidFill>
              </a:defRPr>
            </a:lvl5pPr>
            <a:lvl6pPr>
              <a:defRPr sz="2550" b="0">
                <a:solidFill>
                  <a:srgbClr val="173D39"/>
                </a:solidFill>
              </a:defRPr>
            </a:lvl6pPr>
            <a:lvl7pPr>
              <a:defRPr sz="2550" b="0">
                <a:solidFill>
                  <a:srgbClr val="173D39"/>
                </a:solidFill>
              </a:defRPr>
            </a:lvl7pPr>
            <a:lvl8pPr>
              <a:defRPr sz="2550" b="0">
                <a:solidFill>
                  <a:srgbClr val="173D39"/>
                </a:solidFill>
              </a:defRPr>
            </a:lvl8pPr>
            <a:lvl9pPr>
              <a:defRPr sz="2550" b="0">
                <a:solidFill>
                  <a:srgbClr val="173D39"/>
                </a:solidFill>
              </a:defRPr>
            </a:lvl9pPr>
          </a:lstStyle>
          <a:p xmlns:a="http://schemas.openxmlformats.org/drawingml/2006/main">
            <a:pPr>
              <a:defRPr sz="2550" b="0">
                <a:solidFill>
                  <a:srgbClr val="173D39"/>
                </a:solidFill>
              </a:defRPr>
            </a:pPr>
            <a:r>
              <a:rPr sz="2550" b="0">
                <a:solidFill>
                  <a:srgbClr val="173D39"/>
                </a:solidFill>
              </a:rPr>
              <a:t>Repair dates recorded coarse closeouts. They could not support a precise restoration forecast.</a:t>
            </a:r>
          </a:p>
        </p:txBody>
      </p:sp>
      <p:sp>
        <p:nvSpPr>
          <p:cNvPr id="6" name="">
            <a:extLst xmlns:a="http://schemas.openxmlformats.org/drawingml/2006/main">
              <a:ext uri="{FF2B5EF4-FFF2-40B4-BE49-F238E27FC236}">
                <a16:creationId xmlns:a16="http://schemas.microsoft.com/office/drawing/2014/main" id="{3002E60A-CE87-4A6C-85C9-ED4A75223E3E}"/>
              </a:ext>
            </a:extLst>
          </p:cNvPr>
          <p:cNvSpPr>
            <a:spLocks xmlns:a="http://schemas.openxmlformats.org/drawingml/2006/main" noGrp="1"/>
          </p:cNvSpPr>
          <p:nvPr/>
        </p:nvSpPr>
        <p:spPr>
          <a:xfrm xmlns:a="http://schemas.openxmlformats.org/drawingml/2006/main">
            <a:off x="6477000" y="18383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6E61"/>
                </a:solidFill>
              </a:defRPr>
            </a:defPPr>
            <a:lvl1pPr>
              <a:defRPr sz="2175" b="1">
                <a:solidFill>
                  <a:srgbClr val="146E61"/>
                </a:solidFill>
              </a:defRPr>
            </a:lvl1pPr>
            <a:lvl2pPr>
              <a:defRPr sz="2175" b="1">
                <a:solidFill>
                  <a:srgbClr val="146E61"/>
                </a:solidFill>
              </a:defRPr>
            </a:lvl2pPr>
            <a:lvl3pPr>
              <a:defRPr sz="2175" b="1">
                <a:solidFill>
                  <a:srgbClr val="146E61"/>
                </a:solidFill>
              </a:defRPr>
            </a:lvl3pPr>
            <a:lvl4pPr>
              <a:defRPr sz="2175" b="1">
                <a:solidFill>
                  <a:srgbClr val="146E61"/>
                </a:solidFill>
              </a:defRPr>
            </a:lvl4pPr>
            <a:lvl5pPr>
              <a:defRPr sz="2175" b="1">
                <a:solidFill>
                  <a:srgbClr val="146E61"/>
                </a:solidFill>
              </a:defRPr>
            </a:lvl5pPr>
            <a:lvl6pPr>
              <a:defRPr sz="2175" b="1">
                <a:solidFill>
                  <a:srgbClr val="146E61"/>
                </a:solidFill>
              </a:defRPr>
            </a:lvl6pPr>
            <a:lvl7pPr>
              <a:defRPr sz="2175" b="1">
                <a:solidFill>
                  <a:srgbClr val="146E61"/>
                </a:solidFill>
              </a:defRPr>
            </a:lvl7pPr>
            <a:lvl8pPr>
              <a:defRPr sz="2175" b="1">
                <a:solidFill>
                  <a:srgbClr val="146E61"/>
                </a:solidFill>
              </a:defRPr>
            </a:lvl8pPr>
            <a:lvl9pPr>
              <a:defRPr sz="2175" b="1">
                <a:solidFill>
                  <a:srgbClr val="146E61"/>
                </a:solidFill>
              </a:defRPr>
            </a:lvl9pPr>
          </a:lstStyle>
          <a:p xmlns:a="http://schemas.openxmlformats.org/drawingml/2006/main">
            <a:pPr>
              <a:defRPr sz="2175" b="1">
                <a:solidFill>
                  <a:srgbClr val="146E61"/>
                </a:solidFill>
              </a:defRPr>
            </a:pPr>
            <a:r>
              <a:rPr sz="2175" b="1">
                <a:solidFill>
                  <a:srgbClr val="146E61"/>
                </a:solidFill>
              </a:rPr>
              <a:t>What we built</a:t>
            </a:r>
          </a:p>
        </p:txBody>
      </p:sp>
      <p:sp>
        <p:nvSpPr>
          <p:cNvPr id="7" name="">
            <a:extLst xmlns:a="http://schemas.openxmlformats.org/drawingml/2006/main">
              <a:ext uri="{FF2B5EF4-FFF2-40B4-BE49-F238E27FC236}">
                <a16:creationId xmlns:a16="http://schemas.microsoft.com/office/drawing/2014/main" id="{D51B7D1E-99AB-4AB4-BA67-426F0E5E0963}"/>
              </a:ext>
            </a:extLst>
          </p:cNvPr>
          <p:cNvSpPr>
            <a:spLocks xmlns:a="http://schemas.openxmlformats.org/drawingml/2006/main" noGrp="1"/>
          </p:cNvSpPr>
          <p:nvPr/>
        </p:nvSpPr>
        <p:spPr>
          <a:xfrm xmlns:a="http://schemas.openxmlformats.org/drawingml/2006/main">
            <a:off x="6477000" y="264795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39"/>
                </a:solidFill>
              </a:defRPr>
            </a:defPPr>
            <a:lvl1pPr>
              <a:defRPr sz="2550" b="0">
                <a:solidFill>
                  <a:srgbClr val="173D39"/>
                </a:solidFill>
              </a:defRPr>
            </a:lvl1pPr>
            <a:lvl2pPr>
              <a:defRPr sz="2550" b="0">
                <a:solidFill>
                  <a:srgbClr val="173D39"/>
                </a:solidFill>
              </a:defRPr>
            </a:lvl2pPr>
            <a:lvl3pPr>
              <a:defRPr sz="2550" b="0">
                <a:solidFill>
                  <a:srgbClr val="173D39"/>
                </a:solidFill>
              </a:defRPr>
            </a:lvl3pPr>
            <a:lvl4pPr>
              <a:defRPr sz="2550" b="0">
                <a:solidFill>
                  <a:srgbClr val="173D39"/>
                </a:solidFill>
              </a:defRPr>
            </a:lvl4pPr>
            <a:lvl5pPr>
              <a:defRPr sz="2550" b="0">
                <a:solidFill>
                  <a:srgbClr val="173D39"/>
                </a:solidFill>
              </a:defRPr>
            </a:lvl5pPr>
            <a:lvl6pPr>
              <a:defRPr sz="2550" b="0">
                <a:solidFill>
                  <a:srgbClr val="173D39"/>
                </a:solidFill>
              </a:defRPr>
            </a:lvl6pPr>
            <a:lvl7pPr>
              <a:defRPr sz="2550" b="0">
                <a:solidFill>
                  <a:srgbClr val="173D39"/>
                </a:solidFill>
              </a:defRPr>
            </a:lvl7pPr>
            <a:lvl8pPr>
              <a:defRPr sz="2550" b="0">
                <a:solidFill>
                  <a:srgbClr val="173D39"/>
                </a:solidFill>
              </a:defRPr>
            </a:lvl8pPr>
            <a:lvl9pPr>
              <a:defRPr sz="2550" b="0">
                <a:solidFill>
                  <a:srgbClr val="173D39"/>
                </a:solidFill>
              </a:defRPr>
            </a:lvl9pPr>
          </a:lstStyle>
          <a:p xmlns:a="http://schemas.openxmlformats.org/drawingml/2006/main">
            <a:pPr>
              <a:defRPr sz="2550" b="0">
                <a:solidFill>
                  <a:srgbClr val="173D39"/>
                </a:solidFill>
              </a:defRPr>
            </a:pPr>
            <a:r>
              <a:rPr sz="2550" b="0">
                <a:solidFill>
                  <a:srgbClr val="173D39"/>
                </a:solidFill>
              </a:rPr>
              <a:t>An explainable scenario simulator using labor hours, dependencies and adjustable crew inputs.</a:t>
            </a:r>
          </a:p>
        </p:txBody>
      </p:sp>
      <p:sp>
        <p:nvSpPr>
          <p:cNvPr id="8" name="">
            <a:extLst xmlns:a="http://schemas.openxmlformats.org/drawingml/2006/main">
              <a:ext uri="{FF2B5EF4-FFF2-40B4-BE49-F238E27FC236}">
                <a16:creationId xmlns:a16="http://schemas.microsoft.com/office/drawing/2014/main" id="{3A479D40-445C-4D9D-B4C9-19CD2A767489}"/>
              </a:ext>
            </a:extLst>
          </p:cNvPr>
          <p:cNvSpPr>
            <a:spLocks xmlns:a="http://schemas.openxmlformats.org/drawingml/2006/main" noGrp="1"/>
          </p:cNvSpPr>
          <p:nvPr/>
        </p:nvSpPr>
        <p:spPr>
          <a:xfrm xmlns:a="http://schemas.openxmlformats.org/drawingml/2006/main">
            <a:off x="647700" y="51054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E61"/>
                </a:solidFill>
              </a:defRPr>
            </a:defPPr>
            <a:lvl1pPr>
              <a:defRPr sz="2100" b="1">
                <a:solidFill>
                  <a:srgbClr val="146E61"/>
                </a:solidFill>
              </a:defRPr>
            </a:lvl1pPr>
            <a:lvl2pPr>
              <a:defRPr sz="2100" b="1">
                <a:solidFill>
                  <a:srgbClr val="146E61"/>
                </a:solidFill>
              </a:defRPr>
            </a:lvl2pPr>
            <a:lvl3pPr>
              <a:defRPr sz="2100" b="1">
                <a:solidFill>
                  <a:srgbClr val="146E61"/>
                </a:solidFill>
              </a:defRPr>
            </a:lvl3pPr>
            <a:lvl4pPr>
              <a:defRPr sz="2100" b="1">
                <a:solidFill>
                  <a:srgbClr val="146E61"/>
                </a:solidFill>
              </a:defRPr>
            </a:lvl4pPr>
            <a:lvl5pPr>
              <a:defRPr sz="2100" b="1">
                <a:solidFill>
                  <a:srgbClr val="146E61"/>
                </a:solidFill>
              </a:defRPr>
            </a:lvl5pPr>
            <a:lvl6pPr>
              <a:defRPr sz="2100" b="1">
                <a:solidFill>
                  <a:srgbClr val="146E61"/>
                </a:solidFill>
              </a:defRPr>
            </a:lvl6pPr>
            <a:lvl7pPr>
              <a:defRPr sz="2100" b="1">
                <a:solidFill>
                  <a:srgbClr val="146E61"/>
                </a:solidFill>
              </a:defRPr>
            </a:lvl7pPr>
            <a:lvl8pPr>
              <a:defRPr sz="2100" b="1">
                <a:solidFill>
                  <a:srgbClr val="146E61"/>
                </a:solidFill>
              </a:defRPr>
            </a:lvl8pPr>
            <a:lvl9pPr>
              <a:defRPr sz="2100" b="1">
                <a:solidFill>
                  <a:srgbClr val="146E61"/>
                </a:solidFill>
              </a:defRPr>
            </a:lvl9pPr>
          </a:lstStyle>
          <a:p xmlns:a="http://schemas.openxmlformats.org/drawingml/2006/main">
            <a:pPr>
              <a:defRPr sz="2100" b="1">
                <a:solidFill>
                  <a:srgbClr val="146E61"/>
                </a:solidFill>
              </a:defRPr>
            </a:pPr>
            <a:r>
              <a:rPr sz="2100" b="1">
                <a:solidFill>
                  <a:srgbClr val="146E61"/>
                </a:solidFill>
              </a:rPr>
              <a:t>Trust controls</a:t>
            </a:r>
          </a:p>
        </p:txBody>
      </p:sp>
      <p:sp>
        <p:nvSpPr>
          <p:cNvPr id="9" name="">
            <a:extLst xmlns:a="http://schemas.openxmlformats.org/drawingml/2006/main">
              <a:ext uri="{FF2B5EF4-FFF2-40B4-BE49-F238E27FC236}">
                <a16:creationId xmlns:a16="http://schemas.microsoft.com/office/drawing/2014/main" id="{F910E07E-5855-45C2-BC46-9767F2C80DA3}"/>
              </a:ext>
            </a:extLst>
          </p:cNvPr>
          <p:cNvSpPr>
            <a:spLocks xmlns:a="http://schemas.openxmlformats.org/drawingml/2006/main" noGrp="1"/>
          </p:cNvSpPr>
          <p:nvPr/>
        </p:nvSpPr>
        <p:spPr>
          <a:xfrm xmlns:a="http://schemas.openxmlformats.org/drawingml/2006/main">
            <a:off x="647700" y="571500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8706A"/>
                </a:solidFill>
              </a:defRPr>
            </a:defPPr>
            <a:lvl1pPr>
              <a:defRPr sz="1950" b="0">
                <a:solidFill>
                  <a:srgbClr val="58706A"/>
                </a:solidFill>
              </a:defRPr>
            </a:lvl1pPr>
            <a:lvl2pPr>
              <a:defRPr sz="1950" b="0">
                <a:solidFill>
                  <a:srgbClr val="58706A"/>
                </a:solidFill>
              </a:defRPr>
            </a:lvl2pPr>
            <a:lvl3pPr>
              <a:defRPr sz="1950" b="0">
                <a:solidFill>
                  <a:srgbClr val="58706A"/>
                </a:solidFill>
              </a:defRPr>
            </a:lvl3pPr>
            <a:lvl4pPr>
              <a:defRPr sz="1950" b="0">
                <a:solidFill>
                  <a:srgbClr val="58706A"/>
                </a:solidFill>
              </a:defRPr>
            </a:lvl4pPr>
            <a:lvl5pPr>
              <a:defRPr sz="1950" b="0">
                <a:solidFill>
                  <a:srgbClr val="58706A"/>
                </a:solidFill>
              </a:defRPr>
            </a:lvl5pPr>
            <a:lvl6pPr>
              <a:defRPr sz="1950" b="0">
                <a:solidFill>
                  <a:srgbClr val="58706A"/>
                </a:solidFill>
              </a:defRPr>
            </a:lvl6pPr>
            <a:lvl7pPr>
              <a:defRPr sz="1950" b="0">
                <a:solidFill>
                  <a:srgbClr val="58706A"/>
                </a:solidFill>
              </a:defRPr>
            </a:lvl7pPr>
            <a:lvl8pPr>
              <a:defRPr sz="1950" b="0">
                <a:solidFill>
                  <a:srgbClr val="58706A"/>
                </a:solidFill>
              </a:defRPr>
            </a:lvl8pPr>
            <a:lvl9pPr>
              <a:defRPr sz="1950" b="0">
                <a:solidFill>
                  <a:srgbClr val="58706A"/>
                </a:solidFill>
              </a:defRPr>
            </a:lvl9pPr>
          </a:lstStyle>
          <a:p xmlns:a="http://schemas.openxmlformats.org/drawingml/2006/main">
            <a:pPr>
              <a:defRPr sz="1950" b="0">
                <a:solidFill>
                  <a:srgbClr val="58706A"/>
                </a:solidFill>
              </a:defRPr>
            </a:pPr>
            <a:r>
              <a:rPr sz="1950" b="0">
                <a:solidFill>
                  <a:srgbClr val="58706A"/>
                </a:solidFill>
              </a:rPr>
              <a:t>Labeled estimates, explicit assumptions, private sessions and a fallback when information is missing</a:t>
            </a:r>
          </a:p>
        </p:txBody>
      </p:sp>
    </p:spTree>
    <p:extLst>
      <p:ext uri="{BB962C8B-B14F-4D97-AF65-F5344CB8AC3E}">
        <p14:creationId xmlns:p14="http://schemas.microsoft.com/office/powerpoint/2010/main" val="2064783002"/>
      </p:ext>
    </p:extLst>
  </p:cSld>
</p:sld>
</file>

<file path=ppt/slides/slide6.xml><?xml version="1.0" encoding="utf-8"?>
<p:sld xmlns:p="http://schemas.openxmlformats.org/presentationml/2006/main">
  <p:cSld>
    <p:bg>
      <p:bgPr>
        <a:solidFill xmlns:a="http://schemas.openxmlformats.org/drawingml/2006/main">
          <a:srgbClr val="173D39"/>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F82ABA-B705-427A-B028-E64A2483702A}"/>
              </a:ext>
            </a:extLst>
          </p:cNvPr>
          <p:cNvSpPr>
            <a:spLocks xmlns:a="http://schemas.openxmlformats.org/drawingml/2006/main" noGrp="1"/>
          </p:cNvSpPr>
          <p:nvPr/>
        </p:nvSpPr>
        <p:spPr>
          <a:xfrm xmlns:a="http://schemas.openxmlformats.org/drawingml/2006/main">
            <a:off x="609600" y="457200"/>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6EF"/>
                </a:solidFill>
              </a:defRPr>
            </a:defPPr>
            <a:lvl1pPr>
              <a:defRPr sz="3600" b="1">
                <a:solidFill>
                  <a:srgbClr val="F5F6EF"/>
                </a:solidFill>
              </a:defRPr>
            </a:lvl1pPr>
            <a:lvl2pPr>
              <a:defRPr sz="3600" b="1">
                <a:solidFill>
                  <a:srgbClr val="F5F6EF"/>
                </a:solidFill>
              </a:defRPr>
            </a:lvl2pPr>
            <a:lvl3pPr>
              <a:defRPr sz="3600" b="1">
                <a:solidFill>
                  <a:srgbClr val="F5F6EF"/>
                </a:solidFill>
              </a:defRPr>
            </a:lvl3pPr>
            <a:lvl4pPr>
              <a:defRPr sz="3600" b="1">
                <a:solidFill>
                  <a:srgbClr val="F5F6EF"/>
                </a:solidFill>
              </a:defRPr>
            </a:lvl4pPr>
            <a:lvl5pPr>
              <a:defRPr sz="3600" b="1">
                <a:solidFill>
                  <a:srgbClr val="F5F6EF"/>
                </a:solidFill>
              </a:defRPr>
            </a:lvl5pPr>
            <a:lvl6pPr>
              <a:defRPr sz="3600" b="1">
                <a:solidFill>
                  <a:srgbClr val="F5F6EF"/>
                </a:solidFill>
              </a:defRPr>
            </a:lvl6pPr>
            <a:lvl7pPr>
              <a:defRPr sz="3600" b="1">
                <a:solidFill>
                  <a:srgbClr val="F5F6EF"/>
                </a:solidFill>
              </a:defRPr>
            </a:lvl7pPr>
            <a:lvl8pPr>
              <a:defRPr sz="3600" b="1">
                <a:solidFill>
                  <a:srgbClr val="F5F6EF"/>
                </a:solidFill>
              </a:defRPr>
            </a:lvl8pPr>
            <a:lvl9pPr>
              <a:defRPr sz="3600" b="1">
                <a:solidFill>
                  <a:srgbClr val="F5F6EF"/>
                </a:solidFill>
              </a:defRPr>
            </a:lvl9pPr>
          </a:lstStyle>
          <a:p xmlns:a="http://schemas.openxmlformats.org/drawingml/2006/main">
            <a:pPr>
              <a:defRPr sz="3600" b="1">
                <a:solidFill>
                  <a:srgbClr val="F5F6EF"/>
                </a:solidFill>
              </a:defRPr>
            </a:pPr>
            <a:r>
              <a:rPr sz="3600" b="1">
                <a:solidFill>
                  <a:srgbClr val="F5F6EF"/>
                </a:solidFill>
              </a:rPr>
              <a:t>Customer value and the next step</a:t>
            </a:r>
          </a:p>
        </p:txBody>
      </p:sp>
      <p:sp>
        <p:nvSpPr>
          <p:cNvPr id="3" name="">
            <a:extLst xmlns:a="http://schemas.openxmlformats.org/drawingml/2006/main">
              <a:ext uri="{FF2B5EF4-FFF2-40B4-BE49-F238E27FC236}">
                <a16:creationId xmlns:a16="http://schemas.microsoft.com/office/drawing/2014/main" id="{F3221D4D-9C0E-4DB5-8CB5-12834C43DBCC}"/>
              </a:ext>
            </a:extLst>
          </p:cNvPr>
          <p:cNvSpPr>
            <a:spLocks xmlns:a="http://schemas.openxmlformats.org/drawingml/2006/main" noGrp="1"/>
          </p:cNvSpPr>
          <p:nvPr/>
        </p:nvSpPr>
        <p:spPr>
          <a:xfrm xmlns:a="http://schemas.openxmlformats.org/drawingml/2006/main">
            <a:off x="11087100" y="62484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7C5B9"/>
                </a:solidFill>
              </a:defRPr>
            </a:defPPr>
            <a:lvl1pPr>
              <a:defRPr sz="1350" b="0">
                <a:solidFill>
                  <a:srgbClr val="A7C5B9"/>
                </a:solidFill>
              </a:defRPr>
            </a:lvl1pPr>
            <a:lvl2pPr>
              <a:defRPr sz="1350" b="0">
                <a:solidFill>
                  <a:srgbClr val="A7C5B9"/>
                </a:solidFill>
              </a:defRPr>
            </a:lvl2pPr>
            <a:lvl3pPr>
              <a:defRPr sz="1350" b="0">
                <a:solidFill>
                  <a:srgbClr val="A7C5B9"/>
                </a:solidFill>
              </a:defRPr>
            </a:lvl3pPr>
            <a:lvl4pPr>
              <a:defRPr sz="1350" b="0">
                <a:solidFill>
                  <a:srgbClr val="A7C5B9"/>
                </a:solidFill>
              </a:defRPr>
            </a:lvl4pPr>
            <a:lvl5pPr>
              <a:defRPr sz="1350" b="0">
                <a:solidFill>
                  <a:srgbClr val="A7C5B9"/>
                </a:solidFill>
              </a:defRPr>
            </a:lvl5pPr>
            <a:lvl6pPr>
              <a:defRPr sz="1350" b="0">
                <a:solidFill>
                  <a:srgbClr val="A7C5B9"/>
                </a:solidFill>
              </a:defRPr>
            </a:lvl6pPr>
            <a:lvl7pPr>
              <a:defRPr sz="1350" b="0">
                <a:solidFill>
                  <a:srgbClr val="A7C5B9"/>
                </a:solidFill>
              </a:defRPr>
            </a:lvl7pPr>
            <a:lvl8pPr>
              <a:defRPr sz="1350" b="0">
                <a:solidFill>
                  <a:srgbClr val="A7C5B9"/>
                </a:solidFill>
              </a:defRPr>
            </a:lvl8pPr>
            <a:lvl9pPr>
              <a:defRPr sz="1350" b="0">
                <a:solidFill>
                  <a:srgbClr val="A7C5B9"/>
                </a:solidFill>
              </a:defRPr>
            </a:lvl9pPr>
          </a:lstStyle>
          <a:p xmlns:a="http://schemas.openxmlformats.org/drawingml/2006/main">
            <a:pPr>
              <a:defRPr sz="1350" b="0">
                <a:solidFill>
                  <a:srgbClr val="A7C5B9"/>
                </a:solidFill>
              </a:defRPr>
            </a:pPr>
            <a:r>
              <a:rPr sz="1350" b="0">
                <a:solidFill>
                  <a:srgbClr val="A7C5B9"/>
                </a:solidFill>
              </a:rPr>
              <a:t>06</a:t>
            </a:r>
          </a:p>
        </p:txBody>
      </p:sp>
      <p:sp>
        <p:nvSpPr>
          <p:cNvPr id="4" name="">
            <a:extLst xmlns:a="http://schemas.openxmlformats.org/drawingml/2006/main">
              <a:ext uri="{FF2B5EF4-FFF2-40B4-BE49-F238E27FC236}">
                <a16:creationId xmlns:a16="http://schemas.microsoft.com/office/drawing/2014/main" id="{F7368D7A-ACB6-47B1-903A-10B95A6E5CFD}"/>
              </a:ext>
            </a:extLst>
          </p:cNvPr>
          <p:cNvSpPr>
            <a:spLocks xmlns:a="http://schemas.openxmlformats.org/drawingml/2006/main" noGrp="1"/>
          </p:cNvSpPr>
          <p:nvPr/>
        </p:nvSpPr>
        <p:spPr>
          <a:xfrm xmlns:a="http://schemas.openxmlformats.org/drawingml/2006/main">
            <a:off x="647700" y="1952625"/>
            <a:ext cx="10572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5F6EF"/>
                </a:solidFill>
              </a:defRPr>
            </a:defPPr>
            <a:lvl1pPr>
              <a:defRPr sz="4650" b="1">
                <a:solidFill>
                  <a:srgbClr val="F5F6EF"/>
                </a:solidFill>
              </a:defRPr>
            </a:lvl1pPr>
            <a:lvl2pPr>
              <a:defRPr sz="4650" b="1">
                <a:solidFill>
                  <a:srgbClr val="F5F6EF"/>
                </a:solidFill>
              </a:defRPr>
            </a:lvl2pPr>
            <a:lvl3pPr>
              <a:defRPr sz="4650" b="1">
                <a:solidFill>
                  <a:srgbClr val="F5F6EF"/>
                </a:solidFill>
              </a:defRPr>
            </a:lvl3pPr>
            <a:lvl4pPr>
              <a:defRPr sz="4650" b="1">
                <a:solidFill>
                  <a:srgbClr val="F5F6EF"/>
                </a:solidFill>
              </a:defRPr>
            </a:lvl4pPr>
            <a:lvl5pPr>
              <a:defRPr sz="4650" b="1">
                <a:solidFill>
                  <a:srgbClr val="F5F6EF"/>
                </a:solidFill>
              </a:defRPr>
            </a:lvl5pPr>
            <a:lvl6pPr>
              <a:defRPr sz="4650" b="1">
                <a:solidFill>
                  <a:srgbClr val="F5F6EF"/>
                </a:solidFill>
              </a:defRPr>
            </a:lvl6pPr>
            <a:lvl7pPr>
              <a:defRPr sz="4650" b="1">
                <a:solidFill>
                  <a:srgbClr val="F5F6EF"/>
                </a:solidFill>
              </a:defRPr>
            </a:lvl7pPr>
            <a:lvl8pPr>
              <a:defRPr sz="4650" b="1">
                <a:solidFill>
                  <a:srgbClr val="F5F6EF"/>
                </a:solidFill>
              </a:defRPr>
            </a:lvl8pPr>
            <a:lvl9pPr>
              <a:defRPr sz="4650" b="1">
                <a:solidFill>
                  <a:srgbClr val="F5F6EF"/>
                </a:solidFill>
              </a:defRPr>
            </a:lvl9pPr>
          </a:lstStyle>
          <a:p xmlns:a="http://schemas.openxmlformats.org/drawingml/2006/main">
            <a:pPr>
              <a:defRPr sz="4650" b="1">
                <a:solidFill>
                  <a:srgbClr val="F5F6EF"/>
                </a:solidFill>
              </a:defRPr>
            </a:pPr>
            <a:r>
              <a:rPr sz="4650" b="1">
                <a:solidFill>
                  <a:srgbClr val="F5F6EF"/>
                </a:solidFill>
              </a:rPr>
              <a:t>A customer can plan before the lights go out</a:t>
            </a:r>
          </a:p>
        </p:txBody>
      </p:sp>
      <p:sp>
        <p:nvSpPr>
          <p:cNvPr id="5" name="">
            <a:extLst xmlns:a="http://schemas.openxmlformats.org/drawingml/2006/main">
              <a:ext uri="{FF2B5EF4-FFF2-40B4-BE49-F238E27FC236}">
                <a16:creationId xmlns:a16="http://schemas.microsoft.com/office/drawing/2014/main" id="{628F4C00-EE9A-43DF-BFCC-B3FEFBF56CA9}"/>
              </a:ext>
            </a:extLst>
          </p:cNvPr>
          <p:cNvSpPr>
            <a:spLocks xmlns:a="http://schemas.openxmlformats.org/drawingml/2006/main" noGrp="1"/>
          </p:cNvSpPr>
          <p:nvPr/>
        </p:nvSpPr>
        <p:spPr>
          <a:xfrm xmlns:a="http://schemas.openxmlformats.org/drawingml/2006/main">
            <a:off x="666750" y="3962400"/>
            <a:ext cx="1028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0E2D5"/>
                </a:solidFill>
              </a:defRPr>
            </a:defPPr>
            <a:lvl1pPr>
              <a:defRPr sz="2325" b="0">
                <a:solidFill>
                  <a:srgbClr val="D0E2D5"/>
                </a:solidFill>
              </a:defRPr>
            </a:lvl1pPr>
            <a:lvl2pPr>
              <a:defRPr sz="2325" b="0">
                <a:solidFill>
                  <a:srgbClr val="D0E2D5"/>
                </a:solidFill>
              </a:defRPr>
            </a:lvl2pPr>
            <a:lvl3pPr>
              <a:defRPr sz="2325" b="0">
                <a:solidFill>
                  <a:srgbClr val="D0E2D5"/>
                </a:solidFill>
              </a:defRPr>
            </a:lvl3pPr>
            <a:lvl4pPr>
              <a:defRPr sz="2325" b="0">
                <a:solidFill>
                  <a:srgbClr val="D0E2D5"/>
                </a:solidFill>
              </a:defRPr>
            </a:lvl4pPr>
            <a:lvl5pPr>
              <a:defRPr sz="2325" b="0">
                <a:solidFill>
                  <a:srgbClr val="D0E2D5"/>
                </a:solidFill>
              </a:defRPr>
            </a:lvl5pPr>
            <a:lvl6pPr>
              <a:defRPr sz="2325" b="0">
                <a:solidFill>
                  <a:srgbClr val="D0E2D5"/>
                </a:solidFill>
              </a:defRPr>
            </a:lvl6pPr>
            <a:lvl7pPr>
              <a:defRPr sz="2325" b="0">
                <a:solidFill>
                  <a:srgbClr val="D0E2D5"/>
                </a:solidFill>
              </a:defRPr>
            </a:lvl7pPr>
            <a:lvl8pPr>
              <a:defRPr sz="2325" b="0">
                <a:solidFill>
                  <a:srgbClr val="D0E2D5"/>
                </a:solidFill>
              </a:defRPr>
            </a:lvl8pPr>
            <a:lvl9pPr>
              <a:defRPr sz="2325" b="0">
                <a:solidFill>
                  <a:srgbClr val="D0E2D5"/>
                </a:solidFill>
              </a:defRPr>
            </a:lvl9pPr>
          </a:lstStyle>
          <a:p xmlns:a="http://schemas.openxmlformats.org/drawingml/2006/main">
            <a:pPr>
              <a:defRPr sz="2325" b="0">
                <a:solidFill>
                  <a:srgbClr val="D0E2D5"/>
                </a:solidFill>
              </a:defRPr>
            </a:pPr>
            <a:r>
              <a:rPr sz="2325" b="0">
                <a:solidFill>
                  <a:srgbClr val="D0E2D5"/>
                </a:solidFill>
              </a:rPr>
              <a:t>The prototype connects grid engineering with household decisions and plain-language explanations.</a:t>
            </a:r>
          </a:p>
        </p:txBody>
      </p:sp>
      <p:sp>
        <p:nvSpPr>
          <p:cNvPr id="6" name="">
            <a:extLst xmlns:a="http://schemas.openxmlformats.org/drawingml/2006/main">
              <a:ext uri="{FF2B5EF4-FFF2-40B4-BE49-F238E27FC236}">
                <a16:creationId xmlns:a16="http://schemas.microsoft.com/office/drawing/2014/main" id="{AB2500BC-CC6C-4723-8DAA-D38D36182F0C}"/>
              </a:ext>
            </a:extLst>
          </p:cNvPr>
          <p:cNvSpPr>
            <a:spLocks xmlns:a="http://schemas.openxmlformats.org/drawingml/2006/main" noGrp="1"/>
          </p:cNvSpPr>
          <p:nvPr/>
        </p:nvSpPr>
        <p:spPr>
          <a:xfrm xmlns:a="http://schemas.openxmlformats.org/drawingml/2006/main">
            <a:off x="666750" y="5391150"/>
            <a:ext cx="1038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FCCC0"/>
                </a:solidFill>
              </a:defRPr>
            </a:defPPr>
            <a:lvl1pPr>
              <a:defRPr sz="2100" b="0">
                <a:solidFill>
                  <a:srgbClr val="AFCCC0"/>
                </a:solidFill>
              </a:defRPr>
            </a:lvl1pPr>
            <a:lvl2pPr>
              <a:defRPr sz="2100" b="0">
                <a:solidFill>
                  <a:srgbClr val="AFCCC0"/>
                </a:solidFill>
              </a:defRPr>
            </a:lvl2pPr>
            <a:lvl3pPr>
              <a:defRPr sz="2100" b="0">
                <a:solidFill>
                  <a:srgbClr val="AFCCC0"/>
                </a:solidFill>
              </a:defRPr>
            </a:lvl3pPr>
            <a:lvl4pPr>
              <a:defRPr sz="2100" b="0">
                <a:solidFill>
                  <a:srgbClr val="AFCCC0"/>
                </a:solidFill>
              </a:defRPr>
            </a:lvl4pPr>
            <a:lvl5pPr>
              <a:defRPr sz="2100" b="0">
                <a:solidFill>
                  <a:srgbClr val="AFCCC0"/>
                </a:solidFill>
              </a:defRPr>
            </a:lvl5pPr>
            <a:lvl6pPr>
              <a:defRPr sz="2100" b="0">
                <a:solidFill>
                  <a:srgbClr val="AFCCC0"/>
                </a:solidFill>
              </a:defRPr>
            </a:lvl6pPr>
            <a:lvl7pPr>
              <a:defRPr sz="2100" b="0">
                <a:solidFill>
                  <a:srgbClr val="AFCCC0"/>
                </a:solidFill>
              </a:defRPr>
            </a:lvl7pPr>
            <a:lvl8pPr>
              <a:defRPr sz="2100" b="0">
                <a:solidFill>
                  <a:srgbClr val="AFCCC0"/>
                </a:solidFill>
              </a:defRPr>
            </a:lvl8pPr>
            <a:lvl9pPr>
              <a:defRPr sz="2100" b="0">
                <a:solidFill>
                  <a:srgbClr val="AFCCC0"/>
                </a:solidFill>
              </a:defRPr>
            </a:lvl9pPr>
          </a:lstStyle>
          <a:p xmlns:a="http://schemas.openxmlformats.org/drawingml/2006/main">
            <a:pPr>
              <a:defRPr sz="2100" b="0">
                <a:solidFill>
                  <a:srgbClr val="AFCCC0"/>
                </a:solidFill>
              </a:defRPr>
            </a:pPr>
            <a:r>
              <a:rPr sz="2100" b="0">
                <a:solidFill>
                  <a:srgbClr val="AFCCC0"/>
                </a:solidFill>
              </a:rPr>
              <a:t>Next: connect live utility feeds, test with customers, and validate on more storms</a:t>
            </a:r>
          </a:p>
        </p:txBody>
      </p:sp>
    </p:spTree>
    <p:extLst>
      <p:ext uri="{BB962C8B-B14F-4D97-AF65-F5344CB8AC3E}">
        <p14:creationId xmlns:p14="http://schemas.microsoft.com/office/powerpoint/2010/main" val="104502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2026-10-25T08:01:21.3700000Z</dcterms:created>
  <dcterms:modified xsi:type="dcterms:W3CDTF">2026-10-25T08:01:21.3700000Z</dcterms:modified>
</coreProperties>
</file>